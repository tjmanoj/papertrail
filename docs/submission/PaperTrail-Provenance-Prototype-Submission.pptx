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500" b="0">
                <a:solidFill>
                  <a:srgbClr val="45556E"/>
                </a:solidFill>
                <a:latin typeface="Arial"/>
              </a:rPr>
              <a:t>Team Name : </a:t>
            </a:r>
            <a:r>
              <a:rPr sz="1500" b="1">
                <a:solidFill>
                  <a:srgbClr val="101A2B"/>
                </a:solidFill>
                <a:latin typeface="Arial"/>
              </a:rPr>
              <a:t>Provenance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500" b="0">
                <a:solidFill>
                  <a:srgbClr val="45556E"/>
                </a:solidFill>
                <a:latin typeface="Arial"/>
              </a:rPr>
              <a:t>Problem Statement : </a:t>
            </a:r>
            <a:r>
              <a:rPr sz="1500" b="1">
                <a:solidFill>
                  <a:srgbClr val="101A2B"/>
                </a:solidFill>
                <a:latin typeface="Arial"/>
              </a:rPr>
              <a:t>1 — Risk, Fraud and Regulatory Intelligence Copilot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500" b="0">
                <a:solidFill>
                  <a:srgbClr val="45556E"/>
                </a:solidFill>
                <a:latin typeface="Arial"/>
              </a:rPr>
              <a:t>Team Leader Name : </a:t>
            </a:r>
            <a:r>
              <a:rPr sz="1500" b="1">
                <a:solidFill>
                  <a:srgbClr val="101A2B"/>
                </a:solidFill>
                <a:latin typeface="Arial"/>
              </a:rPr>
              <a:t>Manoj T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500" b="0">
                <a:solidFill>
                  <a:srgbClr val="45556E"/>
                </a:solidFill>
                <a:latin typeface="Arial"/>
              </a:rPr>
              <a:t>Team Size : </a:t>
            </a:r>
            <a:r>
              <a:rPr sz="1500" b="1">
                <a:solidFill>
                  <a:srgbClr val="101A2B"/>
                </a:solidFill>
                <a:latin typeface="Arial"/>
              </a:rPr>
              <a:t>2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430000" y="560000"/>
            <a:ext cx="8284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1A2B"/>
                </a:solidFill>
                <a:latin typeface="Arial"/>
              </a:rPr>
              <a:t>PaperTrail — the problem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0000" y="950000"/>
            <a:ext cx="828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98AA2"/>
                </a:solidFill>
                <a:latin typeface="Arial"/>
              </a:rPr>
              <a:t>Risk, Fraud and Regulatory Intelligence Copilot · banking and NBFC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0000" y="1310000"/>
            <a:ext cx="8284000" cy="900000"/>
          </a:xfrm>
          <a:prstGeom prst="roundRect">
            <a:avLst>
              <a:gd name="adj" fmla="val 6000"/>
            </a:avLst>
          </a:prstGeom>
          <a:solidFill>
            <a:srgbClr val="0E1624"/>
          </a:solidFill>
          <a:ln w="9525">
            <a:solidFill>
              <a:srgbClr val="0E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Finding the risk signal is the cheap part. </a:t>
            </a:r>
            <a:r>
              <a:rPr sz="1700" b="1">
                <a:solidFill>
                  <a:srgbClr val="29B5E8"/>
                </a:solidFill>
                <a:latin typeface="Arial"/>
              </a:rPr>
              <a:t>Defending the number is the expensive part.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0000" y="2360000"/>
            <a:ext cx="402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THE PAIN TODAY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45556E"/>
                </a:solidFill>
                <a:latin typeface="Arial"/>
              </a:rPr>
              <a:t>An analyst answers “which transactions breached our AML thresholds last month” in ten minutes — then spends two days assembling an evidence pack an auditor will accept.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45556E"/>
                </a:solidFill>
                <a:latin typeface="Arial"/>
              </a:rPr>
              <a:t>Dashboards hand you numbers nobody can defend. Two analysts asked the same question compute it differently: booking or value date, reversals in or out.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92000" y="2360000"/>
            <a:ext cx="402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THE USER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45556E"/>
                </a:solidFill>
                <a:latin typeface="Arial"/>
              </a:rPr>
              <a:t>A compliance analyst or MLRO at a mid-size commercial bank — the person who has to put their name on the number.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45556E"/>
                </a:solidFill>
                <a:latin typeface="Arial"/>
              </a:rPr>
              <a:t>Banking is India’s largest GCC segment; regulatory reporting and AML operations are the day job of tens of thousands of those staff.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0000" y="3980000"/>
            <a:ext cx="8284000" cy="70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A2B"/>
                </a:solidFill>
                <a:latin typeface="Arial"/>
              </a:rPr>
              <a:t>What PaperTrail produces is not a chat reply. It is a filing — and every figure in it is a footnote that resolves to its governed metric definition, the exact SQL, the source rows, and the regulation clause that makes it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30000" y="560000"/>
            <a:ext cx="8284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1A2B"/>
                </a:solidFill>
                <a:latin typeface="Arial"/>
              </a:rPr>
              <a:t>Architecture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0000" y="950000"/>
            <a:ext cx="828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98AA2"/>
                </a:solidFill>
                <a:latin typeface="Arial"/>
              </a:rPr>
              <a:t>Snowflake-native end to end · no LangChain, no external vector store, no third-party LLM API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0000" y="1310000"/>
            <a:ext cx="4067000" cy="56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STRUCTURED  ·  synthetic banking data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45556E"/>
                </a:solidFill>
                <a:latin typeface="Arial"/>
              </a:rPr>
              <a:t>240,798 transactions · 809 counterparties · 1,497 accounts · 18 months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0000" y="2020000"/>
            <a:ext cx="4067000" cy="56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RAW → CURATED → GOLD   ·  9 Dynamic Tables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45556E"/>
                </a:solidFill>
                <a:latin typeface="Arial"/>
              </a:rPr>
              <a:t>Entity resolution; governance choices kept as explicit columns, not filtered away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0000" y="2730000"/>
            <a:ext cx="4067000" cy="56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SEMANTIC VIEW   ·  Cortex Analyst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45556E"/>
                </a:solidFill>
                <a:latin typeface="Arial"/>
              </a:rPr>
              <a:t>7 governed metrics · 10 verified queries · each metric states its governance decision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647000" y="1310000"/>
            <a:ext cx="4067000" cy="56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UNSTRUCTURED  ·  11 regulatory PDFs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45556E"/>
                </a:solidFill>
                <a:latin typeface="Arial"/>
              </a:rPr>
              <a:t>Parsed inside Snowflake with AI_PARSE_DOCUMENT → 72 clauses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47000" y="2020000"/>
            <a:ext cx="4067000" cy="56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CORTEX SEARCH   ·  REGULATION_SEARCH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45556E"/>
                </a:solidFill>
                <a:latin typeface="Arial"/>
              </a:rPr>
              <a:t>Clause retrieval with citation attributes · 11/12 top-1, 12/12 top-3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647000" y="2730000"/>
            <a:ext cx="4067000" cy="56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ROW ACCESS POLICIES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45556E"/>
                </a:solidFill>
                <a:latin typeface="Arial"/>
              </a:rPr>
              <a:t>AU / SG analyst personas, justified against AUSTRAC Pt 8.1 and MAS Notice 626 §13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0000" y="3440000"/>
            <a:ext cx="8284000" cy="480000"/>
          </a:xfrm>
          <a:prstGeom prst="roundRect">
            <a:avLst>
              <a:gd name="adj" fmla="val 6000"/>
            </a:avLst>
          </a:prstGeom>
          <a:solidFill>
            <a:srgbClr val="0E1624"/>
          </a:solidFill>
          <a:ln w="9525">
            <a:solidFill>
              <a:srgbClr val="0E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9B5E8"/>
                </a:solidFill>
                <a:latin typeface="Arial"/>
              </a:rPr>
              <a:t>CORTEX AGENT   </a:t>
            </a:r>
            <a:r>
              <a:rPr sz="1100" b="0">
                <a:solidFill>
                  <a:srgbClr val="FFFFFF"/>
                </a:solidFill>
                <a:latin typeface="Arial"/>
              </a:rPr>
              <a:t>figures → Analyst · rules → Search · both when a number needs a rule · refuses what it cannot ground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0000" y="4070000"/>
            <a:ext cx="19885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8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88B4"/>
                </a:solidFill>
                <a:latin typeface="Arial"/>
              </a:rPr>
              <a:t>risk-scanner</a:t>
            </a:r>
          </a:p>
          <a:p>
            <a:pPr algn="ctr">
              <a:spcAft>
                <a:spcPts val="0"/>
              </a:spcAft>
            </a:pPr>
            <a:r>
              <a:rPr sz="900">
                <a:solidFill>
                  <a:srgbClr val="45556E"/>
                </a:solidFill>
                <a:latin typeface="Arial"/>
              </a:rPr>
              <a:t>governed query +
provenance bundle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32500" y="4250000"/>
            <a:ext cx="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0E88B4"/>
                </a:solidFill>
                <a:latin typeface="Arial"/>
              </a:rP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528500" y="4070000"/>
            <a:ext cx="19885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8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88B4"/>
                </a:solidFill>
                <a:latin typeface="Arial"/>
              </a:rPr>
              <a:t>regulation-linker</a:t>
            </a:r>
          </a:p>
          <a:p>
            <a:pPr algn="ctr">
              <a:spcAft>
                <a:spcPts val="0"/>
              </a:spcAft>
            </a:pPr>
            <a:r>
              <a:rPr sz="900">
                <a:solidFill>
                  <a:srgbClr val="45556E"/>
                </a:solidFill>
                <a:latin typeface="Arial"/>
              </a:rPr>
              <a:t>clause retrieval
with citations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31000" y="4250000"/>
            <a:ext cx="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0E88B4"/>
                </a:solidFill>
                <a:latin typeface="Arial"/>
              </a:rPr>
              <a:t>→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627000" y="4070000"/>
            <a:ext cx="19885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8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88B4"/>
                </a:solidFill>
                <a:latin typeface="Arial"/>
              </a:rPr>
              <a:t>finding-writer</a:t>
            </a:r>
          </a:p>
          <a:p>
            <a:pPr algn="ctr">
              <a:spcAft>
                <a:spcPts val="0"/>
              </a:spcAft>
            </a:pPr>
            <a:r>
              <a:rPr sz="900">
                <a:solidFill>
                  <a:srgbClr val="45556E"/>
                </a:solidFill>
                <a:latin typeface="Arial"/>
              </a:rPr>
              <a:t>assembles finding;
cannot invent a figure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500" y="4250000"/>
            <a:ext cx="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0E88B4"/>
                </a:solidFill>
                <a:latin typeface="Arial"/>
              </a:rP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725500" y="4070000"/>
            <a:ext cx="19885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E8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88B4"/>
                </a:solidFill>
                <a:latin typeface="Arial"/>
              </a:rPr>
              <a:t>provenance-logger</a:t>
            </a:r>
          </a:p>
          <a:p>
            <a:pPr algn="ctr">
              <a:spcAft>
                <a:spcPts val="0"/>
              </a:spcAft>
            </a:pPr>
            <a:r>
              <a:rPr sz="900">
                <a:solidFill>
                  <a:srgbClr val="45556E"/>
                </a:solidFill>
                <a:latin typeface="Arial"/>
              </a:rPr>
              <a:t>append-only,
content-hashed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0000" y="4650000"/>
            <a:ext cx="828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98AA2"/>
                </a:solidFill>
                <a:latin typeface="Arial"/>
              </a:rPr>
              <a:t>Four reusable CoCo skills, each with a documented interface and an explicit boundary. finding-writer cannot state an ungrounded figure: its prompt contains only extracted facts with no database access, and every number in its output is validated back to an input 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30000" y="560000"/>
            <a:ext cx="8284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1A2B"/>
                </a:solidFill>
                <a:latin typeface="Arial"/>
              </a:rPr>
              <a:t>We measured the claim everyone else asserts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0000" y="950000"/>
            <a:ext cx="828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98AA2"/>
                </a:solidFill>
                <a:latin typeface="Arial"/>
              </a:rPr>
              <a:t>Governed vs ungoverned — same data, same model, full raw DDL, no hint of any governance rule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0000" y="1310000"/>
            <a:ext cx="8284000" cy="640000"/>
          </a:xfrm>
          <a:prstGeom prst="roundRect">
            <a:avLst>
              <a:gd name="adj" fmla="val 6000"/>
            </a:avLst>
          </a:prstGeom>
          <a:solidFill>
            <a:srgbClr val="FAE8E8"/>
          </a:solidFill>
          <a:ln w="9525">
            <a:solidFill>
              <a:srgbClr val="E4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9E2727"/>
                </a:solidFill>
                <a:latin typeface="Arial"/>
              </a:rPr>
              <a:t>Our hypothesis was wrong. </a:t>
            </a:r>
            <a:r>
              <a:rPr sz="1250" b="0">
                <a:solidFill>
                  <a:srgbClr val="101A2B"/>
                </a:solidFill>
                <a:latin typeface="Arial"/>
              </a:rPr>
              <a:t>An ungoverned model is not inconsistent — across 25 runs the SQL was byte-identical. It is perfectly confident and materially wrong on 2 of 5 questions.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0000" y="2070000"/>
            <a:ext cx="4984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98AA2"/>
                </a:solidFill>
                <a:latin typeface="Arial"/>
              </a:rPr>
              <a:t>QUESTION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14000" y="2070000"/>
            <a:ext cx="1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798AA2"/>
                </a:solidFill>
                <a:latin typeface="Arial"/>
              </a:rPr>
              <a:t>UNGOVERNED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14000" y="2070000"/>
            <a:ext cx="1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798AA2"/>
                </a:solidFill>
                <a:latin typeface="Arial"/>
              </a:rPr>
              <a:t>GOVERNED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4000" y="2070000"/>
            <a:ext cx="9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798AA2"/>
                </a:solidFill>
                <a:latin typeface="Arial"/>
              </a:rPr>
              <a:t/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0000" y="2320000"/>
            <a:ext cx="498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Suspicious volume, Q3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4000" y="2320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8,797,923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4000" y="2320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4,295,229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4000" y="232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9E2727"/>
                </a:solidFill>
                <a:latin typeface="Arial"/>
              </a:rPr>
              <a:t>+105%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0000" y="2605000"/>
            <a:ext cx="498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Exposure to CP-STRUCT-01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14000" y="2605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87,185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14000" y="2605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87,185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4000" y="2605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798AA2"/>
                </a:solidFill>
                <a:latin typeface="Arial"/>
              </a:rPr>
              <a:t>agree*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0000" y="2890000"/>
            <a:ext cx="498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Alert closure rate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14000" y="2890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63.6%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14000" y="2890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63.6%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4000" y="289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798AA2"/>
                </a:solidFill>
                <a:latin typeface="Arial"/>
              </a:rPr>
              <a:t>agree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0000" y="3175000"/>
            <a:ext cx="498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SAR filing share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14000" y="3175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6.5%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14000" y="3175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6.5%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14000" y="3175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798AA2"/>
                </a:solidFill>
                <a:latin typeface="Arial"/>
              </a:rPr>
              <a:t>agree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0000" y="3460000"/>
            <a:ext cx="498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High-risk counterparties, Singapore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14000" y="3460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14000" y="3460000"/>
            <a:ext cx="1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101A2B"/>
                </a:solidFill>
                <a:latin typeface="Arial"/>
              </a:rPr>
              <a:t>36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14000" y="346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9E2727"/>
                </a:solidFill>
                <a:latin typeface="Arial"/>
              </a:rPr>
              <a:t>−36%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0000" y="3785000"/>
            <a:ext cx="8284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01A2B"/>
                </a:solidFill>
                <a:latin typeface="Arial"/>
              </a:rPr>
              <a:t>* Q2 agrees by coincidence</a:t>
            </a:r>
            <a:r>
              <a:rPr sz="1050" b="0">
                <a:solidFill>
                  <a:srgbClr val="798AA2"/>
                </a:solidFill>
                <a:latin typeface="Arial"/>
              </a:rPr>
              <a:t> — it computes direct exposure rather than entity-resolved, and matches only because that counterparty has no beneficial-ownership links. Agreement is not evidence of a sound method.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45556E"/>
                </a:solidFill>
                <a:latin typeface="Arial"/>
              </a:rPr>
              <a:t>The $4.5M overstatement comes from four missed decisions at once: booking date rather than value date, reversals counted, unsettled counted, and transactions on already-closed alerts treated as suspicious. Nothing in the output signals any of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Arial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30000" y="560000"/>
            <a:ext cx="8284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1A2B"/>
                </a:solidFill>
                <a:latin typeface="Arial"/>
              </a:rPr>
              <a:t>Measured outcomes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0000" y="950000"/>
            <a:ext cx="828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98AA2"/>
                </a:solidFill>
                <a:latin typeface="Arial"/>
              </a:rPr>
              <a:t>Scored against an answer key that was never loaded into Snowflake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0000" y="1310000"/>
            <a:ext cx="1981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8B4"/>
                </a:solidFill>
                <a:latin typeface="Arial"/>
              </a:rPr>
              <a:t>0.944</a:t>
            </a:r>
          </a:p>
          <a:p>
            <a:pPr algn="ctr">
              <a:spcAft>
                <a:spcPts val="0"/>
              </a:spcAft>
            </a:pPr>
            <a:r>
              <a:rPr sz="850">
                <a:solidFill>
                  <a:srgbClr val="798AA2"/>
                </a:solidFill>
                <a:latin typeface="Arial"/>
              </a:rPr>
              <a:t>detection recall
17 of 18 planted positives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31000" y="1310000"/>
            <a:ext cx="1981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8B4"/>
                </a:solidFill>
                <a:latin typeface="Arial"/>
              </a:rPr>
              <a:t>5 of 6</a:t>
            </a:r>
          </a:p>
          <a:p>
            <a:pPr algn="ctr">
              <a:spcAft>
                <a:spcPts val="0"/>
              </a:spcAft>
            </a:pPr>
            <a:r>
              <a:rPr sz="850">
                <a:solidFill>
                  <a:srgbClr val="798AA2"/>
                </a:solidFill>
                <a:latin typeface="Arial"/>
              </a:rPr>
              <a:t>typologies at F1 1.000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632000" y="1310000"/>
            <a:ext cx="1981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8B4"/>
                </a:solidFill>
                <a:latin typeface="Arial"/>
              </a:rPr>
              <a:t>11/12</a:t>
            </a:r>
          </a:p>
          <a:p>
            <a:pPr algn="ctr">
              <a:spcAft>
                <a:spcPts val="0"/>
              </a:spcAft>
            </a:pPr>
            <a:r>
              <a:rPr sz="850">
                <a:solidFill>
                  <a:srgbClr val="798AA2"/>
                </a:solidFill>
                <a:latin typeface="Arial"/>
              </a:rPr>
              <a:t>clause retrieval, top-1
12/12 at top-3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33000" y="1310000"/>
            <a:ext cx="19810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8B4"/>
                </a:solidFill>
                <a:latin typeface="Arial"/>
              </a:rPr>
              <a:t>5/5</a:t>
            </a:r>
          </a:p>
          <a:p>
            <a:pPr algn="ctr">
              <a:spcAft>
                <a:spcPts val="0"/>
              </a:spcAft>
            </a:pPr>
            <a:r>
              <a:rPr sz="850">
                <a:solidFill>
                  <a:srgbClr val="798AA2"/>
                </a:solidFill>
                <a:latin typeface="Arial"/>
              </a:rPr>
              <a:t>agent tool-routing
including the refusal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0000" y="2190000"/>
            <a:ext cx="4067000" cy="118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TIME SAVED, HONESTLY STATED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56E"/>
                </a:solidFill>
                <a:latin typeface="Arial"/>
              </a:rPr>
              <a:t>The evidence pack a finding produces — figure, metric definition, SQL, source rows, clause — is the artefact that takes an analyst two days to assemble by hand. PaperTrail emits it with the answer, and the figure re-derives from its own footnote in about 300 ms.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47000" y="2190000"/>
            <a:ext cx="4067000" cy="1180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E88B4"/>
                </a:solidFill>
                <a:latin typeface="Arial"/>
              </a:rPr>
              <a:t>WHY THIS IS NOT 100%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56E"/>
                </a:solidFill>
                <a:latin typeface="Arial"/>
              </a:rPr>
              <a:t>Velocity-spike detection is weak — 20 false positives. Removing it would take overall precision and F1 to 1.000. We kept it: velocity monitoring is a regulatory requirement, not an optional enhancement. A perfect score on self-authored data, detectors and answer key would be evidence of tuning, not detection.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0000" y="3490000"/>
            <a:ext cx="828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01A2B"/>
                </a:solidFill>
                <a:latin typeface="Arial"/>
              </a:rPr>
              <a:t>Scalability and beyond the demo.  </a:t>
            </a:r>
            <a:r>
              <a:rPr sz="1050" b="0">
                <a:solidFill>
                  <a:srgbClr val="45556E"/>
                </a:solidFill>
                <a:latin typeface="Arial"/>
              </a:rPr>
              <a:t>Every object is idempotent DDL and every row is generated, so the system rebuilds byte-for-byte in any Snowflake account. The four skills are parameterised for reuse: swap the semantic view and the clause corpus, keep the provenance machinery.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0000" y="4120000"/>
            <a:ext cx="8284000" cy="760000"/>
          </a:xfrm>
          <a:prstGeom prst="roundRect">
            <a:avLst>
              <a:gd name="adj" fmla="val 6000"/>
            </a:avLst>
          </a:prstGeom>
          <a:solidFill>
            <a:srgbClr val="0E1624"/>
          </a:solidFill>
          <a:ln w="9525">
            <a:solidFill>
              <a:srgbClr val="0E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000" rIns="130000" tIns="90000" bIns="9000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98AA2"/>
                </a:solidFill>
                <a:latin typeface="Arial"/>
              </a:rPr>
              <a:t>Live app   </a:t>
            </a:r>
            <a:r>
              <a:rPr sz="1250" b="1">
                <a:solidFill>
                  <a:srgbClr val="29B5E8"/>
                </a:solidFill>
                <a:latin typeface="Arial"/>
              </a:rPr>
              <a:t>papertrail-provenance.vercel.app</a:t>
            </a:r>
            <a:r>
              <a:rPr sz="950" b="0">
                <a:solidFill>
                  <a:srgbClr val="798AA2"/>
                </a:solidFill>
                <a:latin typeface="Arial"/>
              </a:rPr>
              <a:t>   no login required   ·   Repo   </a:t>
            </a:r>
            <a:r>
              <a:rPr sz="1050" b="0">
                <a:solidFill>
                  <a:srgbClr val="FFFFFF"/>
                </a:solidFill>
                <a:latin typeface="Arial"/>
              </a:rPr>
              <a:t>github.com/tjmanoj/papertrail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798AA2"/>
                </a:solidFill>
                <a:latin typeface="Arial"/>
              </a:rPr>
              <a:t>Native app   </a:t>
            </a:r>
            <a:r>
              <a:rPr sz="1000" b="0">
                <a:solidFill>
                  <a:srgbClr val="FFFFFF"/>
                </a:solidFill>
                <a:latin typeface="Arial"/>
              </a:rPr>
              <a:t>PAPERTRAIL.GOLD.PAPERTRAIL_APP  ·  Streamlit in Snowflake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798AA2"/>
                </a:solidFill>
                <a:latin typeface="Arial"/>
              </a:rPr>
              <a:t>CoCo evidence   </a:t>
            </a:r>
            <a:r>
              <a:rPr sz="950" b="0">
                <a:solidFill>
                  <a:srgbClr val="FFFFFF"/>
                </a:solidFill>
                <a:latin typeface="Arial"/>
              </a:rPr>
              <a:t>docs/coco/ — 11 full session transcripts and 26 verbatim prompts, each re-derivable with cortex conversations transcript &lt;id&gt;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