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SemiBold"/>
      <p:regular r:id="rId12"/>
      <p:bold r:id="rId13"/>
    </p:embeddedFont>
    <p:embeddedFont>
      <p:font typeface="Manrope"/>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ManropeSemiBold-regular.fntdata"/><Relationship Id="rId13" Type="http://schemas.openxmlformats.org/officeDocument/2006/relationships/font" Target="fonts/ManropeSemiBold-bold.fntdata"/><Relationship Id="rId14" Type="http://schemas.openxmlformats.org/officeDocument/2006/relationships/font" Target="fonts/Manrope-regular.fntdata"/><Relationship Id="rId15" Type="http://schemas.openxmlformats.org/officeDocument/2006/relationships/font" Target="fonts/Manrop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 name="Google Shape;6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 name="Google Shape;67;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7" name="Google Shape;7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 name="Google Shape;83;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3" name="Google Shape;13;p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7" name="Google Shape;17;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0" name="Google Shape;20;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4" name="Google Shape;24;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9" name="Google Shape;29;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2" name="Google Shape;32;p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3" name="Google Shape;33;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1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1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https://papertrail-provenance.vercel.app" TargetMode="External"/><Relationship Id="rId5" Type="http://schemas.openxmlformats.org/officeDocument/2006/relationships/hyperlink" Target="https://youtu.be/ZTIbZ57MyVM" TargetMode="External"/><Relationship Id="rId6" Type="http://schemas.openxmlformats.org/officeDocument/2006/relationships/hyperlink" Target="https://github.com/tjmanoj/papertrai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Framexexexe 232.png"/>
          <p:cNvPicPr preferRelativeResize="0"/>
          <p:nvPr/>
        </p:nvPicPr>
        <p:blipFill rotWithShape="1">
          <a:blip r:embed="rId3">
            <a:alphaModFix/>
          </a:blip>
          <a:srcRect b="0" l="0" r="0" t="0"/>
          <a:stretch/>
        </p:blipFill>
        <p:spPr>
          <a:xfrm>
            <a:off x="-12" y="0"/>
            <a:ext cx="9144018" cy="5143501"/>
          </a:xfrm>
          <a:prstGeom prst="rect">
            <a:avLst/>
          </a:prstGeom>
          <a:noFill/>
          <a:ln>
            <a:noFill/>
          </a:ln>
        </p:spPr>
      </p:pic>
      <p:sp>
        <p:nvSpPr>
          <p:cNvPr id="55" name="Google Shape;55;p13"/>
          <p:cNvSpPr txBox="1"/>
          <p:nvPr/>
        </p:nvSpPr>
        <p:spPr>
          <a:xfrm>
            <a:off x="402808" y="3192600"/>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Name :  </a:t>
            </a:r>
            <a:r>
              <a:rPr sz="1500" b="1">
                <a:solidFill>
                  <a:srgbClr val="0F1829"/>
                </a:solidFill>
                <a:latin typeface="Arial"/>
              </a:rPr>
              <a:t>Provenance</a:t>
            </a:r>
            <a:endParaRPr b="0" i="0" sz="1343" u="none" cap="none" strike="noStrike">
              <a:solidFill>
                <a:srgbClr val="202729"/>
              </a:solidFill>
              <a:latin typeface="Manrope SemiBold"/>
              <a:ea typeface="Manrope SemiBold"/>
              <a:cs typeface="Manrope SemiBold"/>
              <a:sym typeface="Manrope SemiBold"/>
            </a:endParaRPr>
          </a:p>
        </p:txBody>
      </p:sp>
      <p:sp>
        <p:nvSpPr>
          <p:cNvPr id="56" name="Google Shape;56;p13"/>
          <p:cNvSpPr txBox="1"/>
          <p:nvPr/>
        </p:nvSpPr>
        <p:spPr>
          <a:xfrm>
            <a:off x="402788" y="42501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Problem Statement :  </a:t>
            </a:r>
            <a:r>
              <a:rPr sz="1500" b="1">
                <a:solidFill>
                  <a:srgbClr val="0F1829"/>
                </a:solidFill>
                <a:latin typeface="Arial"/>
              </a:rPr>
              <a:t>1. Risk, Fraud and Regulatory Intelligence Copilot</a:t>
            </a:r>
            <a:endParaRPr b="0" i="0" sz="1343" u="none" cap="none" strike="noStrike">
              <a:solidFill>
                <a:srgbClr val="202729"/>
              </a:solidFill>
              <a:latin typeface="Manrope SemiBold"/>
              <a:ea typeface="Manrope SemiBold"/>
              <a:cs typeface="Manrope SemiBold"/>
              <a:sym typeface="Manrope SemiBold"/>
            </a:endParaRPr>
          </a:p>
        </p:txBody>
      </p:sp>
      <p:sp>
        <p:nvSpPr>
          <p:cNvPr id="57" name="Google Shape;57;p13"/>
          <p:cNvSpPr txBox="1"/>
          <p:nvPr/>
        </p:nvSpPr>
        <p:spPr>
          <a:xfrm>
            <a:off x="402798" y="3534656"/>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Leader Name :  </a:t>
            </a:r>
            <a:r>
              <a:rPr sz="1500" b="1">
                <a:solidFill>
                  <a:srgbClr val="0F1829"/>
                </a:solidFill>
                <a:latin typeface="Arial"/>
              </a:rPr>
              <a:t>Manoj T</a:t>
            </a:r>
            <a:endParaRPr b="0" i="0" sz="1343" u="none" cap="none" strike="noStrike">
              <a:solidFill>
                <a:srgbClr val="202729"/>
              </a:solidFill>
              <a:latin typeface="Manrope SemiBold"/>
              <a:ea typeface="Manrope SemiBold"/>
              <a:cs typeface="Manrope SemiBold"/>
              <a:sym typeface="Manrope SemiBold"/>
            </a:endParaRPr>
          </a:p>
        </p:txBody>
      </p:sp>
      <p:sp>
        <p:nvSpPr>
          <p:cNvPr id="58" name="Google Shape;58;p13"/>
          <p:cNvSpPr txBox="1"/>
          <p:nvPr/>
        </p:nvSpPr>
        <p:spPr>
          <a:xfrm>
            <a:off x="402788" y="39072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Team Size :  </a:t>
            </a:r>
            <a:r>
              <a:rPr sz="1500" b="1">
                <a:solidFill>
                  <a:srgbClr val="0F1829"/>
                </a:solidFill>
                <a:latin typeface="Arial"/>
              </a:rPr>
              <a:t>2</a:t>
            </a:r>
            <a:endParaRPr b="0" i="0" sz="1343" u="none" cap="none" strike="noStrike">
              <a:solidFill>
                <a:srgbClr val="202729"/>
              </a:solidFill>
              <a:latin typeface="Manrope SemiBold"/>
              <a:ea typeface="Manrope SemiBold"/>
              <a:cs typeface="Manrope SemiBold"/>
              <a:sym typeface="Manrope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4"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64" name="TextBox 63"/>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The problem</a:t>
            </a:r>
          </a:p>
        </p:txBody>
      </p:sp>
      <p:sp>
        <p:nvSpPr>
          <p:cNvPr id="65" name="TextBox 64"/>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Risk, Fraud and Regulatory Intelligence Copilot   ·   banking and NBFC</a:t>
            </a:r>
          </a:p>
        </p:txBody>
      </p:sp>
      <p:sp>
        <p:nvSpPr>
          <p:cNvPr id="66" name="Rounded Rectangle 65"/>
          <p:cNvSpPr/>
          <p:nvPr/>
        </p:nvSpPr>
        <p:spPr>
          <a:xfrm>
            <a:off x="470000" y="1510000"/>
            <a:ext cx="8204000" cy="7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800" b="0">
                <a:solidFill>
                  <a:srgbClr val="FFFFFF"/>
                </a:solidFill>
                <a:latin typeface="Arial"/>
              </a:rPr>
              <a:t>Finding the risk signal is cheap.   </a:t>
            </a:r>
            <a:r>
              <a:rPr sz="1800" b="1">
                <a:solidFill>
                  <a:srgbClr val="29B5E8"/>
                </a:solidFill>
                <a:latin typeface="Arial"/>
              </a:rPr>
              <a:t>Defending the number is expensive.</a:t>
            </a:r>
          </a:p>
        </p:txBody>
      </p:sp>
      <p:sp>
        <p:nvSpPr>
          <p:cNvPr id="67" name="Rounded Rectangle 66"/>
          <p:cNvSpPr/>
          <p:nvPr/>
        </p:nvSpPr>
        <p:spPr>
          <a:xfrm>
            <a:off x="470000"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TODAY</a:t>
            </a:r>
          </a:p>
          <a:p>
            <a:pPr algn="l">
              <a:spcAft>
                <a:spcPts val="700"/>
              </a:spcAft>
            </a:pPr>
            <a:r>
              <a:rPr sz="1100" b="0">
                <a:solidFill>
                  <a:srgbClr val="465770"/>
                </a:solidFill>
                <a:latin typeface="Arial"/>
              </a:rPr>
              <a:t>Ten minutes to find the signal. Two days to assemble an evidence pack an auditor will accept.</a:t>
            </a:r>
          </a:p>
        </p:txBody>
      </p:sp>
      <p:sp>
        <p:nvSpPr>
          <p:cNvPr id="68" name="Rounded Rectangle 67"/>
          <p:cNvSpPr/>
          <p:nvPr/>
        </p:nvSpPr>
        <p:spPr>
          <a:xfrm>
            <a:off x="3274666"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GAP</a:t>
            </a:r>
          </a:p>
          <a:p>
            <a:pPr algn="l">
              <a:spcAft>
                <a:spcPts val="700"/>
              </a:spcAft>
            </a:pPr>
            <a:r>
              <a:rPr sz="1100" b="0">
                <a:solidFill>
                  <a:srgbClr val="465770"/>
                </a:solidFill>
                <a:latin typeface="Arial"/>
              </a:rPr>
              <a:t>Ask two analysts the same question and they compute it differently. Booking or value date. Reversals in or out.</a:t>
            </a:r>
          </a:p>
        </p:txBody>
      </p:sp>
      <p:sp>
        <p:nvSpPr>
          <p:cNvPr id="69" name="Rounded Rectangle 68"/>
          <p:cNvSpPr/>
          <p:nvPr/>
        </p:nvSpPr>
        <p:spPr>
          <a:xfrm>
            <a:off x="6079332"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USER</a:t>
            </a:r>
          </a:p>
          <a:p>
            <a:pPr algn="l">
              <a:spcAft>
                <a:spcPts val="700"/>
              </a:spcAft>
            </a:pPr>
            <a:r>
              <a:rPr sz="1100" b="0">
                <a:solidFill>
                  <a:srgbClr val="465770"/>
                </a:solidFill>
                <a:latin typeface="Arial"/>
              </a:rPr>
              <a:t>A compliance analyst or MLRO at a mid-sized bank who has to put their name on the number.</a:t>
            </a:r>
          </a:p>
        </p:txBody>
      </p:sp>
      <p:sp>
        <p:nvSpPr>
          <p:cNvPr id="70" name="Rounded Rectangle 69"/>
          <p:cNvSpPr/>
          <p:nvPr/>
        </p:nvSpPr>
        <p:spPr>
          <a:xfrm>
            <a:off x="470000" y="3814830"/>
            <a:ext cx="8204000" cy="572750"/>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50" b="0">
                <a:solidFill>
                  <a:srgbClr val="0F1829"/>
                </a:solidFill>
                <a:latin typeface="Arial"/>
              </a:rPr>
              <a:t>PaperTrail does not answer with a number. It answers with a filing, in which every figure is a footnote that resolves to its governed definition, the exact SQL, the source rows, and the clause that makes it matter.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0" name="TextBox 6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Architecture</a:t>
            </a:r>
          </a:p>
        </p:txBody>
      </p:sp>
      <p:sp>
        <p:nvSpPr>
          <p:cNvPr id="71" name="TextBox 7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Snowflake-native, end to end. No LangChain, no external vector store, no third-party LLM API.</a:t>
            </a:r>
          </a:p>
        </p:txBody>
      </p:sp>
      <p:sp>
        <p:nvSpPr>
          <p:cNvPr id="72" name="Rounded Rectangle 71"/>
          <p:cNvSpPr/>
          <p:nvPr/>
        </p:nvSpPr>
        <p:spPr>
          <a:xfrm>
            <a:off x="470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STRUCTURED</a:t>
            </a:r>
          </a:p>
          <a:p>
            <a:pPr algn="ctr">
              <a:spcAft>
                <a:spcPts val="100"/>
              </a:spcAft>
            </a:pPr>
            <a:r>
              <a:rPr sz="850" b="0">
                <a:solidFill>
                  <a:srgbClr val="8A99AD"/>
                </a:solidFill>
                <a:latin typeface="Arial"/>
              </a:rPr>
              <a:t>240,798 transactions  ·  809 counterparties</a:t>
            </a:r>
          </a:p>
        </p:txBody>
      </p:sp>
      <p:sp>
        <p:nvSpPr>
          <p:cNvPr id="73" name="Rounded Rectangle 72"/>
          <p:cNvSpPr/>
          <p:nvPr/>
        </p:nvSpPr>
        <p:spPr>
          <a:xfrm>
            <a:off x="4732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UNSTRUCTURED</a:t>
            </a:r>
          </a:p>
          <a:p>
            <a:pPr algn="ctr">
              <a:spcAft>
                <a:spcPts val="100"/>
              </a:spcAft>
            </a:pPr>
            <a:r>
              <a:rPr sz="850" b="0">
                <a:solidFill>
                  <a:srgbClr val="8A99AD"/>
                </a:solidFill>
                <a:latin typeface="Arial"/>
              </a:rPr>
              <a:t>11 regulatory PDFs  ·  AI_PARSE_DOCUMENT</a:t>
            </a:r>
          </a:p>
        </p:txBody>
      </p:sp>
      <p:cxnSp>
        <p:nvCxnSpPr>
          <p:cNvPr id="74" name="Connector 73"/>
          <p:cNvCxnSpPr/>
          <p:nvPr/>
        </p:nvCxnSpPr>
        <p:spPr>
          <a:xfrm>
            <a:off x="2441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03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470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RAW to CURATED to GOLD</a:t>
            </a:r>
          </a:p>
          <a:p>
            <a:pPr algn="ctr">
              <a:spcAft>
                <a:spcPts val="100"/>
              </a:spcAft>
            </a:pPr>
            <a:r>
              <a:rPr sz="850" b="0">
                <a:solidFill>
                  <a:srgbClr val="8A99AD"/>
                </a:solidFill>
                <a:latin typeface="Arial"/>
              </a:rPr>
              <a:t>9 Dynamic Tables  ·  entity resolution</a:t>
            </a:r>
          </a:p>
        </p:txBody>
      </p:sp>
      <p:sp>
        <p:nvSpPr>
          <p:cNvPr id="77" name="Rounded Rectangle 76"/>
          <p:cNvSpPr/>
          <p:nvPr/>
        </p:nvSpPr>
        <p:spPr>
          <a:xfrm>
            <a:off x="4732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CORTEX SEARCH</a:t>
            </a:r>
          </a:p>
          <a:p>
            <a:pPr algn="ctr">
              <a:spcAft>
                <a:spcPts val="100"/>
              </a:spcAft>
            </a:pPr>
            <a:r>
              <a:rPr sz="850" b="0">
                <a:solidFill>
                  <a:srgbClr val="8A99AD"/>
                </a:solidFill>
                <a:latin typeface="Arial"/>
              </a:rPr>
              <a:t>72 clauses  ·  11 of 12 top-1 retrieval</a:t>
            </a:r>
          </a:p>
        </p:txBody>
      </p:sp>
      <p:cxnSp>
        <p:nvCxnSpPr>
          <p:cNvPr id="78" name="Connector 77"/>
          <p:cNvCxnSpPr/>
          <p:nvPr/>
        </p:nvCxnSpPr>
        <p:spPr>
          <a:xfrm>
            <a:off x="2441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703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470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SEMANTIC VIEW</a:t>
            </a:r>
          </a:p>
          <a:p>
            <a:pPr algn="ctr">
              <a:spcAft>
                <a:spcPts val="100"/>
              </a:spcAft>
            </a:pPr>
            <a:r>
              <a:rPr sz="850" b="0">
                <a:solidFill>
                  <a:srgbClr val="8A99AD"/>
                </a:solidFill>
                <a:latin typeface="Arial"/>
              </a:rPr>
              <a:t>7 governed metrics  ·  10 verified queries</a:t>
            </a:r>
          </a:p>
        </p:txBody>
      </p:sp>
      <p:sp>
        <p:nvSpPr>
          <p:cNvPr id="81" name="Rounded Rectangle 80"/>
          <p:cNvSpPr/>
          <p:nvPr/>
        </p:nvSpPr>
        <p:spPr>
          <a:xfrm>
            <a:off x="4732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ROW ACCESS POLICIES</a:t>
            </a:r>
          </a:p>
          <a:p>
            <a:pPr algn="ctr">
              <a:spcAft>
                <a:spcPts val="100"/>
              </a:spcAft>
            </a:pPr>
            <a:r>
              <a:rPr sz="850" b="0">
                <a:solidFill>
                  <a:srgbClr val="8A99AD"/>
                </a:solidFill>
                <a:latin typeface="Arial"/>
              </a:rPr>
              <a:t>AU and SG analyst personas</a:t>
            </a:r>
          </a:p>
        </p:txBody>
      </p:sp>
      <p:cxnSp>
        <p:nvCxnSpPr>
          <p:cNvPr id="82" name="Connector 81"/>
          <p:cNvCxnSpPr/>
          <p:nvPr/>
        </p:nvCxnSpPr>
        <p:spPr>
          <a:xfrm>
            <a:off x="2441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6703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470000" y="3070000"/>
            <a:ext cx="8204000" cy="4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100" b="1">
                <a:solidFill>
                  <a:srgbClr val="29B5E8"/>
                </a:solidFill>
                <a:latin typeface="Arial"/>
              </a:rPr>
              <a:t>CORTEX AGENT</a:t>
            </a:r>
            <a:r>
              <a:rPr sz="1000" b="0">
                <a:solidFill>
                  <a:srgbClr val="FFFFFF"/>
                </a:solidFill>
                <a:latin typeface="Arial"/>
              </a:rPr>
              <a:t>      figures to Analyst   ·   rules to Search   ·   refuses what it cannot ground</a:t>
            </a:r>
          </a:p>
        </p:txBody>
      </p:sp>
      <p:sp>
        <p:nvSpPr>
          <p:cNvPr id="85" name="Rounded Rectangle 84"/>
          <p:cNvSpPr/>
          <p:nvPr/>
        </p:nvSpPr>
        <p:spPr>
          <a:xfrm>
            <a:off x="470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risk-scanner</a:t>
            </a:r>
          </a:p>
          <a:p>
            <a:pPr algn="ctr">
              <a:spcAft>
                <a:spcPts val="100"/>
              </a:spcAft>
            </a:pPr>
            <a:r>
              <a:rPr sz="800" b="0">
                <a:solidFill>
                  <a:srgbClr val="8A99AD"/>
                </a:solidFill>
                <a:latin typeface="Arial"/>
              </a:rPr>
              <a:t>governed query,
provenance bundle</a:t>
            </a:r>
          </a:p>
        </p:txBody>
      </p:sp>
      <p:cxnSp>
        <p:nvCxnSpPr>
          <p:cNvPr id="86" name="Connector 85"/>
          <p:cNvCxnSpPr/>
          <p:nvPr/>
        </p:nvCxnSpPr>
        <p:spPr>
          <a:xfrm>
            <a:off x="2401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7" name="Rounded Rectangle 86"/>
          <p:cNvSpPr/>
          <p:nvPr/>
        </p:nvSpPr>
        <p:spPr>
          <a:xfrm>
            <a:off x="2561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regulation-linker</a:t>
            </a:r>
          </a:p>
          <a:p>
            <a:pPr algn="ctr">
              <a:spcAft>
                <a:spcPts val="100"/>
              </a:spcAft>
            </a:pPr>
            <a:r>
              <a:rPr sz="800" b="0">
                <a:solidFill>
                  <a:srgbClr val="8A99AD"/>
                </a:solidFill>
                <a:latin typeface="Arial"/>
              </a:rPr>
              <a:t>clause retrieval
with citations</a:t>
            </a:r>
          </a:p>
        </p:txBody>
      </p:sp>
      <p:cxnSp>
        <p:nvCxnSpPr>
          <p:cNvPr id="88" name="Connector 87"/>
          <p:cNvCxnSpPr/>
          <p:nvPr/>
        </p:nvCxnSpPr>
        <p:spPr>
          <a:xfrm>
            <a:off x="4492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4652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finding-writer</a:t>
            </a:r>
          </a:p>
          <a:p>
            <a:pPr algn="ctr">
              <a:spcAft>
                <a:spcPts val="100"/>
              </a:spcAft>
            </a:pPr>
            <a:r>
              <a:rPr sz="800" b="0">
                <a:solidFill>
                  <a:srgbClr val="8A99AD"/>
                </a:solidFill>
                <a:latin typeface="Arial"/>
              </a:rPr>
              <a:t>assembles finding,
cannot invent a figure</a:t>
            </a:r>
          </a:p>
        </p:txBody>
      </p:sp>
      <p:cxnSp>
        <p:nvCxnSpPr>
          <p:cNvPr id="90" name="Connector 89"/>
          <p:cNvCxnSpPr/>
          <p:nvPr/>
        </p:nvCxnSpPr>
        <p:spPr>
          <a:xfrm>
            <a:off x="6583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6743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provenance-logger</a:t>
            </a:r>
          </a:p>
          <a:p>
            <a:pPr algn="ctr">
              <a:spcAft>
                <a:spcPts val="100"/>
              </a:spcAft>
            </a:pPr>
            <a:r>
              <a:rPr sz="800" b="0">
                <a:solidFill>
                  <a:srgbClr val="8A99AD"/>
                </a:solidFill>
                <a:latin typeface="Arial"/>
              </a:rPr>
              <a:t>append only,
content hashed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6"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5" name="TextBox 74"/>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Measured, not asserted</a:t>
            </a:r>
          </a:p>
        </p:txBody>
      </p:sp>
      <p:sp>
        <p:nvSpPr>
          <p:cNvPr id="76" name="TextBox 75"/>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Governed against ungoverned. Same data, same model, full raw DDL, no hint of any governance rule.</a:t>
            </a:r>
          </a:p>
        </p:txBody>
      </p:sp>
      <p:sp>
        <p:nvSpPr>
          <p:cNvPr id="77" name="Rounded Rectangle 76"/>
          <p:cNvSpPr/>
          <p:nvPr/>
        </p:nvSpPr>
        <p:spPr>
          <a:xfrm>
            <a:off x="470000" y="1510000"/>
            <a:ext cx="8204000" cy="418120"/>
          </a:xfrm>
          <a:prstGeom prst="roundRect">
            <a:avLst>
              <a:gd name="adj" fmla="val 9000"/>
            </a:avLst>
          </a:prstGeom>
          <a:solidFill>
            <a:srgbClr val="FBECEC"/>
          </a:solidFill>
          <a:ln w="9525">
            <a:solidFill>
              <a:srgbClr val="E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00" b="1">
                <a:solidFill>
                  <a:srgbClr val="B12B2B"/>
                </a:solidFill>
                <a:latin typeface="Arial"/>
              </a:rPr>
              <a:t>Our hypothesis was wrong. </a:t>
            </a:r>
            <a:r>
              <a:rPr sz="1200" b="0">
                <a:solidFill>
                  <a:srgbClr val="0F1829"/>
                </a:solidFill>
                <a:latin typeface="Arial"/>
              </a:rPr>
              <a:t>An ungoverned model is not inconsistent. Across 25 runs the SQL was byte identical. It is perfectly confident, and wrong on 2 of 5.</a:t>
            </a:r>
          </a:p>
        </p:txBody>
      </p:sp>
      <p:sp>
        <p:nvSpPr>
          <p:cNvPr id="78" name="TextBox 77"/>
          <p:cNvSpPr txBox="1"/>
          <p:nvPr/>
        </p:nvSpPr>
        <p:spPr>
          <a:xfrm>
            <a:off x="470000" y="2228120"/>
            <a:ext cx="4904000" cy="190000"/>
          </a:xfrm>
          <a:prstGeom prst="rect">
            <a:avLst/>
          </a:prstGeom>
          <a:noFill/>
        </p:spPr>
        <p:txBody>
          <a:bodyPr wrap="square" lIns="0" rIns="0" tIns="0" bIns="0">
            <a:spAutoFit/>
          </a:bodyPr>
          <a:lstStyle/>
          <a:p>
            <a:pPr algn="l">
              <a:spcAft>
                <a:spcPts val="0"/>
              </a:spcAft>
            </a:pPr>
            <a:r>
              <a:rPr sz="800" b="1">
                <a:solidFill>
                  <a:srgbClr val="8A99AD"/>
                </a:solidFill>
                <a:latin typeface="Arial"/>
              </a:rPr>
              <a:t>QUESTION</a:t>
            </a:r>
          </a:p>
        </p:txBody>
      </p:sp>
      <p:sp>
        <p:nvSpPr>
          <p:cNvPr id="79" name="TextBox 78"/>
          <p:cNvSpPr txBox="1"/>
          <p:nvPr/>
        </p:nvSpPr>
        <p:spPr>
          <a:xfrm>
            <a:off x="53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UNGOVERNED</a:t>
            </a:r>
          </a:p>
        </p:txBody>
      </p:sp>
      <p:sp>
        <p:nvSpPr>
          <p:cNvPr id="80" name="TextBox 79"/>
          <p:cNvSpPr txBox="1"/>
          <p:nvPr/>
        </p:nvSpPr>
        <p:spPr>
          <a:xfrm>
            <a:off x="65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GOVERNED</a:t>
            </a:r>
          </a:p>
        </p:txBody>
      </p:sp>
      <p:sp>
        <p:nvSpPr>
          <p:cNvPr id="81" name="TextBox 80"/>
          <p:cNvSpPr txBox="1"/>
          <p:nvPr/>
        </p:nvSpPr>
        <p:spPr>
          <a:xfrm>
            <a:off x="7774000" y="2228120"/>
            <a:ext cx="9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
            </a:r>
          </a:p>
        </p:txBody>
      </p:sp>
      <p:sp>
        <p:nvSpPr>
          <p:cNvPr id="82" name="Rectangle 81"/>
          <p:cNvSpPr/>
          <p:nvPr/>
        </p:nvSpPr>
        <p:spPr>
          <a:xfrm>
            <a:off x="470000" y="2458120"/>
            <a:ext cx="8204000" cy="9000"/>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000" y="252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Suspicious volume, Q3 2026</a:t>
            </a:r>
          </a:p>
        </p:txBody>
      </p:sp>
      <p:sp>
        <p:nvSpPr>
          <p:cNvPr id="84" name="TextBox 83"/>
          <p:cNvSpPr txBox="1"/>
          <p:nvPr/>
        </p:nvSpPr>
        <p:spPr>
          <a:xfrm>
            <a:off x="53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8,797,923</a:t>
            </a:r>
          </a:p>
        </p:txBody>
      </p:sp>
      <p:sp>
        <p:nvSpPr>
          <p:cNvPr id="85" name="TextBox 84"/>
          <p:cNvSpPr txBox="1"/>
          <p:nvPr/>
        </p:nvSpPr>
        <p:spPr>
          <a:xfrm>
            <a:off x="65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4,295,229</a:t>
            </a:r>
          </a:p>
        </p:txBody>
      </p:sp>
      <p:sp>
        <p:nvSpPr>
          <p:cNvPr id="86" name="TextBox 85"/>
          <p:cNvSpPr txBox="1"/>
          <p:nvPr/>
        </p:nvSpPr>
        <p:spPr>
          <a:xfrm>
            <a:off x="7774000" y="252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+105%</a:t>
            </a:r>
          </a:p>
        </p:txBody>
      </p:sp>
      <p:sp>
        <p:nvSpPr>
          <p:cNvPr id="87" name="TextBox 86"/>
          <p:cNvSpPr txBox="1"/>
          <p:nvPr/>
        </p:nvSpPr>
        <p:spPr>
          <a:xfrm>
            <a:off x="470000" y="281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Exposure to CP-STRUCT-01</a:t>
            </a:r>
          </a:p>
        </p:txBody>
      </p:sp>
      <p:sp>
        <p:nvSpPr>
          <p:cNvPr id="88" name="TextBox 87"/>
          <p:cNvSpPr txBox="1"/>
          <p:nvPr/>
        </p:nvSpPr>
        <p:spPr>
          <a:xfrm>
            <a:off x="53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89" name="TextBox 88"/>
          <p:cNvSpPr txBox="1"/>
          <p:nvPr/>
        </p:nvSpPr>
        <p:spPr>
          <a:xfrm>
            <a:off x="65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90" name="TextBox 89"/>
          <p:cNvSpPr txBox="1"/>
          <p:nvPr/>
        </p:nvSpPr>
        <p:spPr>
          <a:xfrm>
            <a:off x="7774000" y="281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1" name="TextBox 90"/>
          <p:cNvSpPr txBox="1"/>
          <p:nvPr/>
        </p:nvSpPr>
        <p:spPr>
          <a:xfrm>
            <a:off x="470000" y="309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Alert closure rate, 2026</a:t>
            </a:r>
          </a:p>
        </p:txBody>
      </p:sp>
      <p:sp>
        <p:nvSpPr>
          <p:cNvPr id="92" name="TextBox 91"/>
          <p:cNvSpPr txBox="1"/>
          <p:nvPr/>
        </p:nvSpPr>
        <p:spPr>
          <a:xfrm>
            <a:off x="53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3" name="TextBox 92"/>
          <p:cNvSpPr txBox="1"/>
          <p:nvPr/>
        </p:nvSpPr>
        <p:spPr>
          <a:xfrm>
            <a:off x="65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4" name="TextBox 93"/>
          <p:cNvSpPr txBox="1"/>
          <p:nvPr/>
        </p:nvSpPr>
        <p:spPr>
          <a:xfrm>
            <a:off x="7774000" y="3098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5" name="TextBox 94"/>
          <p:cNvSpPr txBox="1"/>
          <p:nvPr/>
        </p:nvSpPr>
        <p:spPr>
          <a:xfrm>
            <a:off x="470000" y="338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SAR filing share</a:t>
            </a:r>
          </a:p>
        </p:txBody>
      </p:sp>
      <p:sp>
        <p:nvSpPr>
          <p:cNvPr id="96" name="TextBox 95"/>
          <p:cNvSpPr txBox="1"/>
          <p:nvPr/>
        </p:nvSpPr>
        <p:spPr>
          <a:xfrm>
            <a:off x="53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7" name="TextBox 96"/>
          <p:cNvSpPr txBox="1"/>
          <p:nvPr/>
        </p:nvSpPr>
        <p:spPr>
          <a:xfrm>
            <a:off x="65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8" name="TextBox 97"/>
          <p:cNvSpPr txBox="1"/>
          <p:nvPr/>
        </p:nvSpPr>
        <p:spPr>
          <a:xfrm>
            <a:off x="7774000" y="338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9" name="TextBox 98"/>
          <p:cNvSpPr txBox="1"/>
          <p:nvPr/>
        </p:nvSpPr>
        <p:spPr>
          <a:xfrm>
            <a:off x="470000" y="366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High risk counterparties, Singapore</a:t>
            </a:r>
          </a:p>
        </p:txBody>
      </p:sp>
      <p:sp>
        <p:nvSpPr>
          <p:cNvPr id="100" name="TextBox 99"/>
          <p:cNvSpPr txBox="1"/>
          <p:nvPr/>
        </p:nvSpPr>
        <p:spPr>
          <a:xfrm>
            <a:off x="53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23</a:t>
            </a:r>
          </a:p>
        </p:txBody>
      </p:sp>
      <p:sp>
        <p:nvSpPr>
          <p:cNvPr id="101" name="TextBox 100"/>
          <p:cNvSpPr txBox="1"/>
          <p:nvPr/>
        </p:nvSpPr>
        <p:spPr>
          <a:xfrm>
            <a:off x="65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36</a:t>
            </a:r>
          </a:p>
        </p:txBody>
      </p:sp>
      <p:sp>
        <p:nvSpPr>
          <p:cNvPr id="102" name="TextBox 101"/>
          <p:cNvSpPr txBox="1"/>
          <p:nvPr/>
        </p:nvSpPr>
        <p:spPr>
          <a:xfrm>
            <a:off x="7774000" y="366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-36%</a:t>
            </a:r>
          </a:p>
        </p:txBody>
      </p:sp>
      <p:sp>
        <p:nvSpPr>
          <p:cNvPr id="103" name="TextBox 102"/>
          <p:cNvSpPr txBox="1"/>
          <p:nvPr/>
        </p:nvSpPr>
        <p:spPr>
          <a:xfrm>
            <a:off x="470000" y="4043120"/>
            <a:ext cx="8204000" cy="490200"/>
          </a:xfrm>
          <a:prstGeom prst="rect">
            <a:avLst/>
          </a:prstGeom>
          <a:noFill/>
        </p:spPr>
        <p:txBody>
          <a:bodyPr wrap="square" lIns="0" rIns="0" tIns="0" bIns="0">
            <a:spAutoFit/>
          </a:bodyPr>
          <a:lstStyle/>
          <a:p>
            <a:pPr algn="l">
              <a:lnSpc>
                <a:spcPct val="120000"/>
              </a:lnSpc>
              <a:spcAft>
                <a:spcPts val="0"/>
              </a:spcAft>
            </a:pPr>
            <a:r>
              <a:rPr sz="1000" b="0">
                <a:solidFill>
                  <a:srgbClr val="465770"/>
                </a:solidFill>
                <a:latin typeface="Arial"/>
              </a:rPr>
              <a:t>The $4.5M overstatement comes from four missed decisions at once: booking date rather than value date, reversals counted, unsettled counted, and transactions on already closed alerts treated as suspicious. Exposure agrees only by coincidence, because that counterparty has no beneficial ownership links.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extBox 7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Measured outcomes</a:t>
            </a:r>
          </a:p>
        </p:txBody>
      </p:sp>
      <p:sp>
        <p:nvSpPr>
          <p:cNvPr id="81" name="TextBox 8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Scored against an answer key that was never loaded into Snowflake.</a:t>
            </a:r>
          </a:p>
        </p:txBody>
      </p:sp>
      <p:sp>
        <p:nvSpPr>
          <p:cNvPr id="82" name="Rounded Rectangle 81"/>
          <p:cNvSpPr/>
          <p:nvPr/>
        </p:nvSpPr>
        <p:spPr>
          <a:xfrm>
            <a:off x="470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0.944</a:t>
            </a:r>
          </a:p>
          <a:p>
            <a:pPr algn="ctr">
              <a:spcAft>
                <a:spcPts val="200"/>
              </a:spcAft>
            </a:pPr>
            <a:r>
              <a:rPr sz="850" b="0">
                <a:solidFill>
                  <a:srgbClr val="8A99AD"/>
                </a:solidFill>
                <a:latin typeface="Arial"/>
              </a:rPr>
              <a:t>detection recall</a:t>
            </a:r>
          </a:p>
        </p:txBody>
      </p:sp>
      <p:sp>
        <p:nvSpPr>
          <p:cNvPr id="83" name="Rounded Rectangle 82"/>
          <p:cNvSpPr/>
          <p:nvPr/>
        </p:nvSpPr>
        <p:spPr>
          <a:xfrm>
            <a:off x="2566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of 6</a:t>
            </a:r>
          </a:p>
          <a:p>
            <a:pPr algn="ctr">
              <a:spcAft>
                <a:spcPts val="200"/>
              </a:spcAft>
            </a:pPr>
            <a:r>
              <a:rPr sz="850" b="0">
                <a:solidFill>
                  <a:srgbClr val="8A99AD"/>
                </a:solidFill>
                <a:latin typeface="Arial"/>
              </a:rPr>
              <a:t>typologies at F1 1.000</a:t>
            </a:r>
          </a:p>
        </p:txBody>
      </p:sp>
      <p:sp>
        <p:nvSpPr>
          <p:cNvPr id="84" name="Rounded Rectangle 83"/>
          <p:cNvSpPr/>
          <p:nvPr/>
        </p:nvSpPr>
        <p:spPr>
          <a:xfrm>
            <a:off x="4662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11 / 12</a:t>
            </a:r>
          </a:p>
          <a:p>
            <a:pPr algn="ctr">
              <a:spcAft>
                <a:spcPts val="200"/>
              </a:spcAft>
            </a:pPr>
            <a:r>
              <a:rPr sz="850" b="0">
                <a:solidFill>
                  <a:srgbClr val="8A99AD"/>
                </a:solidFill>
                <a:latin typeface="Arial"/>
              </a:rPr>
              <a:t>clause retrieval, top-1</a:t>
            </a:r>
          </a:p>
        </p:txBody>
      </p:sp>
      <p:sp>
        <p:nvSpPr>
          <p:cNvPr id="85" name="Rounded Rectangle 84"/>
          <p:cNvSpPr/>
          <p:nvPr/>
        </p:nvSpPr>
        <p:spPr>
          <a:xfrm>
            <a:off x="6758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 5</a:t>
            </a:r>
          </a:p>
          <a:p>
            <a:pPr algn="ctr">
              <a:spcAft>
                <a:spcPts val="200"/>
              </a:spcAft>
            </a:pPr>
            <a:r>
              <a:rPr sz="850" b="0">
                <a:solidFill>
                  <a:srgbClr val="8A99AD"/>
                </a:solidFill>
                <a:latin typeface="Arial"/>
              </a:rPr>
              <a:t>agent tool routing</a:t>
            </a:r>
          </a:p>
        </p:txBody>
      </p:sp>
      <p:sp>
        <p:nvSpPr>
          <p:cNvPr id="86" name="Rounded Rectangle 85"/>
          <p:cNvSpPr/>
          <p:nvPr/>
        </p:nvSpPr>
        <p:spPr>
          <a:xfrm>
            <a:off x="470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WHAT IT SAVES</a:t>
            </a:r>
          </a:p>
          <a:p>
            <a:pPr algn="l">
              <a:spcAft>
                <a:spcPts val="700"/>
              </a:spcAft>
            </a:pPr>
            <a:r>
              <a:rPr sz="1050" b="0">
                <a:solidFill>
                  <a:srgbClr val="465770"/>
                </a:solidFill>
                <a:latin typeface="Arial"/>
              </a:rPr>
              <a:t>The evidence pack is the artefact that takes an analyst two days by hand. PaperTrail emits it with the answer, and the figure re-derives from its own footnote in about 300 ms.</a:t>
            </a:r>
          </a:p>
        </p:txBody>
      </p:sp>
      <p:sp>
        <p:nvSpPr>
          <p:cNvPr id="87" name="Rounded Rectangle 86"/>
          <p:cNvSpPr/>
          <p:nvPr/>
        </p:nvSpPr>
        <p:spPr>
          <a:xfrm>
            <a:off x="4692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WHY NOT 100%</a:t>
            </a:r>
          </a:p>
          <a:p>
            <a:pPr algn="l">
              <a:spcAft>
                <a:spcPts val="700"/>
              </a:spcAft>
            </a:pPr>
            <a:r>
              <a:rPr sz="1050" b="0">
                <a:solidFill>
                  <a:srgbClr val="465770"/>
                </a:solidFill>
                <a:latin typeface="Arial"/>
              </a:rPr>
              <a:t>Velocity spike detection is weak. Removing it would take precision and F1 to 1.000. We kept it because the regulation requires it. A perfect score on self-authored data would be evidence of tuning.</a:t>
            </a:r>
          </a:p>
        </p:txBody>
      </p:sp>
      <p:sp>
        <p:nvSpPr>
          <p:cNvPr id="88" name="Rounded Rectangle 87"/>
          <p:cNvSpPr/>
          <p:nvPr/>
        </p:nvSpPr>
        <p:spPr>
          <a:xfrm>
            <a:off x="470000" y="3700065"/>
            <a:ext cx="8204000" cy="8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300"/>
              </a:spcAft>
            </a:pPr>
            <a:r>
              <a:rPr sz="950" b="0">
                <a:solidFill>
                  <a:srgbClr val="8A99AD"/>
                </a:solidFill>
                <a:latin typeface="Arial"/>
              </a:rPr>
              <a:t>Live app    </a:t>
            </a:r>
            <a:r>
              <a:rPr sz="1250" b="1" u="none">
                <a:solidFill>
                  <a:srgbClr val="29B5E8"/>
                </a:solidFill>
                <a:latin typeface="Arial"/>
                <a:hlinkClick r:id="rId4"/>
              </a:rPr>
              <a:t>papertrail-provenance.vercel.app</a:t>
            </a:r>
            <a:r>
              <a:rPr sz="950" b="0">
                <a:solidFill>
                  <a:srgbClr val="8A99AD"/>
                </a:solidFill>
                <a:latin typeface="Arial"/>
              </a:rPr>
              <a:t>    opens for anyone, no login</a:t>
            </a:r>
          </a:p>
          <a:p>
            <a:pPr algn="ctr">
              <a:spcAft>
                <a:spcPts val="300"/>
              </a:spcAft>
            </a:pPr>
            <a:r>
              <a:rPr sz="950" b="0">
                <a:solidFill>
                  <a:srgbClr val="8A99AD"/>
                </a:solidFill>
                <a:latin typeface="Arial"/>
              </a:rPr>
              <a:t>Demo    </a:t>
            </a:r>
            <a:r>
              <a:rPr sz="1050" b="0" u="none">
                <a:solidFill>
                  <a:srgbClr val="FFFFFF"/>
                </a:solidFill>
                <a:latin typeface="Arial"/>
                <a:hlinkClick r:id="rId5"/>
              </a:rPr>
              <a:t>youtu.be/ZTIbZ57MyVM</a:t>
            </a:r>
            <a:r>
              <a:rPr sz="950" b="0">
                <a:solidFill>
                  <a:srgbClr val="8A99AD"/>
                </a:solidFill>
                <a:latin typeface="Arial"/>
              </a:rPr>
              <a:t>        Repository    </a:t>
            </a:r>
            <a:r>
              <a:rPr sz="1050" b="0" u="none">
                <a:solidFill>
                  <a:srgbClr val="FFFFFF"/>
                </a:solidFill>
                <a:latin typeface="Arial"/>
                <a:hlinkClick r:id="rId6"/>
              </a:rPr>
              <a:t>github.com/tjmanoj/papertrail</a:t>
            </a:r>
          </a:p>
          <a:p>
            <a:pPr algn="ctr">
              <a:spcAft>
                <a:spcPts val="300"/>
              </a:spcAft>
            </a:pPr>
            <a:r>
              <a:rPr sz="900" b="0">
                <a:solidFill>
                  <a:srgbClr val="8A99AD"/>
                </a:solidFill>
                <a:latin typeface="Arial"/>
              </a:rPr>
              <a:t>Also deployed natively as Streamlit in Snowflake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pic>
        <p:nvPicPr>
          <p:cNvPr id="85" name="Google Shape;85;p18" title="timer 1 min cowsswedededexeco cli.png"/>
          <p:cNvPicPr preferRelativeResize="0"/>
          <p:nvPr/>
        </p:nvPicPr>
        <p:blipFill rotWithShape="1">
          <a:blip r:embed="rId3">
            <a:alphaModFix/>
          </a:blip>
          <a:srcRect b="0" l="0" r="0" t="0"/>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