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Lst>
  <p:sldSz cy="5143500" cx="9144000"/>
  <p:notesSz cx="6858000" cy="9144000"/>
  <p:embeddedFontLst>
    <p:embeddedFont>
      <p:font typeface="Manrope SemiBold"/>
      <p:regular r:id="rId12"/>
      <p:bold r:id="rId13"/>
    </p:embeddedFont>
    <p:embeddedFont>
      <p:font typeface="Manrope"/>
      <p:regular r:id="rId14"/>
      <p:bold r:id="rId1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font" Target="fonts/ManropeSemiBold-regular.fntdata"/><Relationship Id="rId13" Type="http://schemas.openxmlformats.org/officeDocument/2006/relationships/font" Target="fonts/ManropeSemiBold-bold.fntdata"/><Relationship Id="rId14" Type="http://schemas.openxmlformats.org/officeDocument/2006/relationships/font" Target="fonts/Manrope-regular.fntdata"/><Relationship Id="rId15" Type="http://schemas.openxmlformats.org/officeDocument/2006/relationships/font" Target="fonts/Manrope-bold.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1: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2" name="Google Shape;52;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p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1" name="Google Shape;61;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p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7" name="Google Shape;67;p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 name="Shape 70"/>
        <p:cNvGrpSpPr/>
        <p:nvPr/>
      </p:nvGrpSpPr>
      <p:grpSpPr>
        <a:xfrm>
          <a:off x="0" y="0"/>
          <a:ext cx="0" cy="0"/>
          <a:chOff x="0" y="0"/>
          <a:chExt cx="0" cy="0"/>
        </a:xfrm>
      </p:grpSpPr>
      <p:sp>
        <p:nvSpPr>
          <p:cNvPr id="71" name="Google Shape;71;p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2" name="Google Shape;72;p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p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7" name="Google Shape;77;p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 name="Shape 81"/>
        <p:cNvGrpSpPr/>
        <p:nvPr/>
      </p:nvGrpSpPr>
      <p:grpSpPr>
        <a:xfrm>
          <a:off x="0" y="0"/>
          <a:ext cx="0" cy="0"/>
          <a:chOff x="0" y="0"/>
          <a:chExt cx="0" cy="0"/>
        </a:xfrm>
      </p:grpSpPr>
      <p:sp>
        <p:nvSpPr>
          <p:cNvPr id="82" name="Google Shape;82;p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3" name="Google Shape;83;p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 name="Shape 9"/>
        <p:cNvGrpSpPr/>
        <p:nvPr/>
      </p:nvGrpSpPr>
      <p:grpSpPr>
        <a:xfrm>
          <a:off x="0" y="0"/>
          <a:ext cx="0" cy="0"/>
          <a:chOff x="0" y="0"/>
          <a:chExt cx="0" cy="0"/>
        </a:xfrm>
      </p:grpSpPr>
      <p:sp>
        <p:nvSpPr>
          <p:cNvPr id="10" name="Google Shape;10;p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1" name="Shape 11"/>
        <p:cNvGrpSpPr/>
        <p:nvPr/>
      </p:nvGrpSpPr>
      <p:grpSpPr>
        <a:xfrm>
          <a:off x="0" y="0"/>
          <a:ext cx="0" cy="0"/>
          <a:chOff x="0" y="0"/>
          <a:chExt cx="0" cy="0"/>
        </a:xfrm>
      </p:grpSpPr>
      <p:sp>
        <p:nvSpPr>
          <p:cNvPr id="12" name="Google Shape;12;p3"/>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13" name="Google Shape;13;p3"/>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4" name="Google Shape;14;p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5" name="Shape 15"/>
        <p:cNvGrpSpPr/>
        <p:nvPr/>
      </p:nvGrpSpPr>
      <p:grpSpPr>
        <a:xfrm>
          <a:off x="0" y="0"/>
          <a:ext cx="0" cy="0"/>
          <a:chOff x="0" y="0"/>
          <a:chExt cx="0" cy="0"/>
        </a:xfrm>
      </p:grpSpPr>
      <p:sp>
        <p:nvSpPr>
          <p:cNvPr id="16" name="Google Shape;16;p4"/>
          <p:cNvSpPr txBox="1"/>
          <p:nvPr>
            <p:ph type="title"/>
          </p:nvPr>
        </p:nvSpPr>
        <p:spPr>
          <a:xfrm>
            <a:off x="311700" y="2150850"/>
            <a:ext cx="8520600" cy="8418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p:txBody>
      </p:sp>
      <p:sp>
        <p:nvSpPr>
          <p:cNvPr id="17" name="Google Shape;17;p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8" name="Shape 18"/>
        <p:cNvGrpSpPr/>
        <p:nvPr/>
      </p:nvGrpSpPr>
      <p:grpSpPr>
        <a:xfrm>
          <a:off x="0" y="0"/>
          <a:ext cx="0" cy="0"/>
          <a:chOff x="0" y="0"/>
          <a:chExt cx="0" cy="0"/>
        </a:xfrm>
      </p:grpSpPr>
      <p:sp>
        <p:nvSpPr>
          <p:cNvPr id="19" name="Google Shape;19;p5"/>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0" name="Google Shape;20;p5"/>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21" name="Google Shape;21;p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2" name="Shape 22"/>
        <p:cNvGrpSpPr/>
        <p:nvPr/>
      </p:nvGrpSpPr>
      <p:grpSpPr>
        <a:xfrm>
          <a:off x="0" y="0"/>
          <a:ext cx="0" cy="0"/>
          <a:chOff x="0" y="0"/>
          <a:chExt cx="0" cy="0"/>
        </a:xfrm>
      </p:grpSpPr>
      <p:sp>
        <p:nvSpPr>
          <p:cNvPr id="23" name="Google Shape;23;p6"/>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4" name="Google Shape;24;p6"/>
          <p:cNvSpPr txBox="1"/>
          <p:nvPr>
            <p:ph idx="1" type="body"/>
          </p:nvPr>
        </p:nvSpPr>
        <p:spPr>
          <a:xfrm>
            <a:off x="3117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5" name="Google Shape;25;p6"/>
          <p:cNvSpPr txBox="1"/>
          <p:nvPr>
            <p:ph idx="2" type="body"/>
          </p:nvPr>
        </p:nvSpPr>
        <p:spPr>
          <a:xfrm>
            <a:off x="48324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6" name="Google Shape;26;p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7" name="Shape 27"/>
        <p:cNvGrpSpPr/>
        <p:nvPr/>
      </p:nvGrpSpPr>
      <p:grpSpPr>
        <a:xfrm>
          <a:off x="0" y="0"/>
          <a:ext cx="0" cy="0"/>
          <a:chOff x="0" y="0"/>
          <a:chExt cx="0" cy="0"/>
        </a:xfrm>
      </p:grpSpPr>
      <p:sp>
        <p:nvSpPr>
          <p:cNvPr id="28" name="Google Shape;28;p7"/>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9" name="Google Shape;29;p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30" name="Shape 30"/>
        <p:cNvGrpSpPr/>
        <p:nvPr/>
      </p:nvGrpSpPr>
      <p:grpSpPr>
        <a:xfrm>
          <a:off x="0" y="0"/>
          <a:ext cx="0" cy="0"/>
          <a:chOff x="0" y="0"/>
          <a:chExt cx="0" cy="0"/>
        </a:xfrm>
      </p:grpSpPr>
      <p:sp>
        <p:nvSpPr>
          <p:cNvPr id="31" name="Google Shape;31;p8"/>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32" name="Google Shape;32;p8"/>
          <p:cNvSpPr txBox="1"/>
          <p:nvPr>
            <p:ph idx="1" type="body"/>
          </p:nvPr>
        </p:nvSpPr>
        <p:spPr>
          <a:xfrm>
            <a:off x="311700" y="1389600"/>
            <a:ext cx="2808000" cy="3179400"/>
          </a:xfrm>
          <a:prstGeom prst="rect">
            <a:avLst/>
          </a:prstGeom>
          <a:noFill/>
          <a:ln>
            <a:noFill/>
          </a:ln>
        </p:spPr>
        <p:txBody>
          <a:bodyPr anchorCtr="0" anchor="t" bIns="91425" lIns="91425" spcFirstLastPara="1" rIns="91425" wrap="square" tIns="91425">
            <a:normAutofit/>
          </a:bodyPr>
          <a:lstStyle>
            <a:lvl1pPr indent="-304800" lvl="0" marL="457200" algn="l">
              <a:lnSpc>
                <a:spcPct val="115000"/>
              </a:lnSpc>
              <a:spcBef>
                <a:spcPts val="0"/>
              </a:spcBef>
              <a:spcAft>
                <a:spcPts val="0"/>
              </a:spcAft>
              <a:buSzPts val="1200"/>
              <a:buChar char="●"/>
              <a:defRPr sz="12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33" name="Google Shape;33;p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4" name="Shape 34"/>
        <p:cNvGrpSpPr/>
        <p:nvPr/>
      </p:nvGrpSpPr>
      <p:grpSpPr>
        <a:xfrm>
          <a:off x="0" y="0"/>
          <a:ext cx="0" cy="0"/>
          <a:chOff x="0" y="0"/>
          <a:chExt cx="0" cy="0"/>
        </a:xfrm>
      </p:grpSpPr>
      <p:sp>
        <p:nvSpPr>
          <p:cNvPr id="35" name="Google Shape;35;p9"/>
          <p:cNvSpPr txBox="1"/>
          <p:nvPr>
            <p:ph type="title"/>
          </p:nvPr>
        </p:nvSpPr>
        <p:spPr>
          <a:xfrm>
            <a:off x="490250" y="450150"/>
            <a:ext cx="6367800" cy="4090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p:txBody>
      </p:sp>
      <p:sp>
        <p:nvSpPr>
          <p:cNvPr id="36" name="Google Shape;36;p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7" name="Shape 37"/>
        <p:cNvGrpSpPr/>
        <p:nvPr/>
      </p:nvGrpSpPr>
      <p:grpSpPr>
        <a:xfrm>
          <a:off x="0" y="0"/>
          <a:ext cx="0" cy="0"/>
          <a:chOff x="0" y="0"/>
          <a:chExt cx="0" cy="0"/>
        </a:xfrm>
      </p:grpSpPr>
      <p:sp>
        <p:nvSpPr>
          <p:cNvPr id="38" name="Google Shape;38;p10"/>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 name="Google Shape;39;p10"/>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40" name="Google Shape;40;p10"/>
          <p:cNvSpPr txBox="1"/>
          <p:nvPr>
            <p:ph idx="1" type="subTitle"/>
          </p:nvPr>
        </p:nvSpPr>
        <p:spPr>
          <a:xfrm>
            <a:off x="265500" y="2803075"/>
            <a:ext cx="4045200" cy="12351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41" name="Google Shape;41;p10"/>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42" name="Google Shape;42;p1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3" name="Shape 43"/>
        <p:cNvGrpSpPr/>
        <p:nvPr/>
      </p:nvGrpSpPr>
      <p:grpSpPr>
        <a:xfrm>
          <a:off x="0" y="0"/>
          <a:ext cx="0" cy="0"/>
          <a:chOff x="0" y="0"/>
          <a:chExt cx="0" cy="0"/>
        </a:xfrm>
      </p:grpSpPr>
      <p:sp>
        <p:nvSpPr>
          <p:cNvPr id="44" name="Google Shape;44;p11"/>
          <p:cNvSpPr txBox="1"/>
          <p:nvPr>
            <p:ph idx="1" type="body"/>
          </p:nvPr>
        </p:nvSpPr>
        <p:spPr>
          <a:xfrm>
            <a:off x="311700" y="4230575"/>
            <a:ext cx="5998800" cy="6051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45" name="Google Shape;45;p1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6" name="Shape 46"/>
        <p:cNvGrpSpPr/>
        <p:nvPr/>
      </p:nvGrpSpPr>
      <p:grpSpPr>
        <a:xfrm>
          <a:off x="0" y="0"/>
          <a:ext cx="0" cy="0"/>
          <a:chOff x="0" y="0"/>
          <a:chExt cx="0" cy="0"/>
        </a:xfrm>
      </p:grpSpPr>
      <p:sp>
        <p:nvSpPr>
          <p:cNvPr id="47" name="Google Shape;47;p12"/>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8" name="Google Shape;48;p12"/>
          <p:cNvSpPr txBox="1"/>
          <p:nvPr>
            <p:ph idx="1" type="body"/>
          </p:nvPr>
        </p:nvSpPr>
        <p:spPr>
          <a:xfrm>
            <a:off x="311700" y="3152225"/>
            <a:ext cx="8520600" cy="13008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0"/>
              </a:spcBef>
              <a:spcAft>
                <a:spcPts val="0"/>
              </a:spcAft>
              <a:buSzPts val="1400"/>
              <a:buChar char="○"/>
              <a:defRPr/>
            </a:lvl2pPr>
            <a:lvl3pPr indent="-317500" lvl="2" marL="1371600" algn="ctr">
              <a:lnSpc>
                <a:spcPct val="115000"/>
              </a:lnSpc>
              <a:spcBef>
                <a:spcPts val="0"/>
              </a:spcBef>
              <a:spcAft>
                <a:spcPts val="0"/>
              </a:spcAft>
              <a:buSzPts val="1400"/>
              <a:buChar char="■"/>
              <a:defRPr/>
            </a:lvl3pPr>
            <a:lvl4pPr indent="-317500" lvl="3" marL="1828800" algn="ctr">
              <a:lnSpc>
                <a:spcPct val="115000"/>
              </a:lnSpc>
              <a:spcBef>
                <a:spcPts val="0"/>
              </a:spcBef>
              <a:spcAft>
                <a:spcPts val="0"/>
              </a:spcAft>
              <a:buSzPts val="1400"/>
              <a:buChar char="●"/>
              <a:defRPr/>
            </a:lvl4pPr>
            <a:lvl5pPr indent="-317500" lvl="4" marL="2286000" algn="ctr">
              <a:lnSpc>
                <a:spcPct val="115000"/>
              </a:lnSpc>
              <a:spcBef>
                <a:spcPts val="0"/>
              </a:spcBef>
              <a:spcAft>
                <a:spcPts val="0"/>
              </a:spcAft>
              <a:buSzPts val="1400"/>
              <a:buChar char="○"/>
              <a:defRPr/>
            </a:lvl5pPr>
            <a:lvl6pPr indent="-317500" lvl="5" marL="2743200" algn="ctr">
              <a:lnSpc>
                <a:spcPct val="115000"/>
              </a:lnSpc>
              <a:spcBef>
                <a:spcPts val="0"/>
              </a:spcBef>
              <a:spcAft>
                <a:spcPts val="0"/>
              </a:spcAft>
              <a:buSzPts val="1400"/>
              <a:buChar char="■"/>
              <a:defRPr/>
            </a:lvl6pPr>
            <a:lvl7pPr indent="-317500" lvl="6" marL="3200400" algn="ctr">
              <a:lnSpc>
                <a:spcPct val="115000"/>
              </a:lnSpc>
              <a:spcBef>
                <a:spcPts val="0"/>
              </a:spcBef>
              <a:spcAft>
                <a:spcPts val="0"/>
              </a:spcAft>
              <a:buSzPts val="1400"/>
              <a:buChar char="●"/>
              <a:defRPr/>
            </a:lvl7pPr>
            <a:lvl8pPr indent="-317500" lvl="7" marL="3657600" algn="ctr">
              <a:lnSpc>
                <a:spcPct val="115000"/>
              </a:lnSpc>
              <a:spcBef>
                <a:spcPts val="0"/>
              </a:spcBef>
              <a:spcAft>
                <a:spcPts val="0"/>
              </a:spcAft>
              <a:buSzPts val="1400"/>
              <a:buChar char="○"/>
              <a:defRPr/>
            </a:lvl8pPr>
            <a:lvl9pPr indent="-317500" lvl="8" marL="4114800" algn="ctr">
              <a:lnSpc>
                <a:spcPct val="115000"/>
              </a:lnSpc>
              <a:spcBef>
                <a:spcPts val="0"/>
              </a:spcBef>
              <a:spcAft>
                <a:spcPts val="0"/>
              </a:spcAft>
              <a:buSzPts val="1400"/>
              <a:buChar char="■"/>
              <a:defRPr/>
            </a:lvl9pPr>
          </a:lstStyle>
          <a:p/>
        </p:txBody>
      </p:sp>
      <p:sp>
        <p:nvSpPr>
          <p:cNvPr id="49" name="Google Shape;49;p1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hyperlink" Target="https://papertrail-provenance.vercel.app" TargetMode="External"/><Relationship Id="rId5" Type="http://schemas.openxmlformats.org/officeDocument/2006/relationships/hyperlink" Target="https://github.com/tjmanoj/papertrai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pic>
        <p:nvPicPr>
          <p:cNvPr id="54" name="Google Shape;54;p13" title="Framexexexe 232.png"/>
          <p:cNvPicPr preferRelativeResize="0"/>
          <p:nvPr/>
        </p:nvPicPr>
        <p:blipFill rotWithShape="1">
          <a:blip r:embed="rId3">
            <a:alphaModFix/>
          </a:blip>
          <a:srcRect b="0" l="0" r="0" t="0"/>
          <a:stretch/>
        </p:blipFill>
        <p:spPr>
          <a:xfrm>
            <a:off x="-12" y="0"/>
            <a:ext cx="9144018" cy="5143501"/>
          </a:xfrm>
          <a:prstGeom prst="rect">
            <a:avLst/>
          </a:prstGeom>
          <a:noFill/>
          <a:ln>
            <a:noFill/>
          </a:ln>
        </p:spPr>
      </p:pic>
      <p:sp>
        <p:nvSpPr>
          <p:cNvPr id="55" name="Google Shape;55;p13"/>
          <p:cNvSpPr txBox="1"/>
          <p:nvPr/>
        </p:nvSpPr>
        <p:spPr>
          <a:xfrm>
            <a:off x="402808" y="3192600"/>
            <a:ext cx="7152900" cy="372600"/>
          </a:xfrm>
          <a:prstGeom prst="rect">
            <a:avLst/>
          </a:prstGeom>
          <a:noFill/>
          <a:ln>
            <a:noFill/>
          </a:ln>
        </p:spPr>
        <p:txBody>
          <a:bodyPr anchorCtr="0" anchor="t" bIns="76750" lIns="76750" spcFirstLastPara="1" rIns="76750" wrap="square" tIns="76750">
            <a:normAutofit/>
          </a:bodyPr>
          <a:lstStyle/>
          <a:p>
            <a:pPr indent="0" lvl="0" marL="0" marR="0" rtl="0" algn="l">
              <a:lnSpc>
                <a:spcPct val="80000"/>
              </a:lnSpc>
              <a:spcBef>
                <a:spcPts val="0"/>
              </a:spcBef>
              <a:spcAft>
                <a:spcPts val="0"/>
              </a:spcAft>
              <a:buClr>
                <a:srgbClr val="000000"/>
              </a:buClr>
              <a:buSzPts val="1343"/>
              <a:buFont typeface="Arial"/>
              <a:buNone/>
            </a:pPr>
            <a:r>
              <a:rPr sz="1500" b="0">
                <a:solidFill>
                  <a:srgbClr val="465770"/>
                </a:solidFill>
                <a:latin typeface="Arial"/>
              </a:rPr>
              <a:t>Team Name :  </a:t>
            </a:r>
            <a:r>
              <a:rPr sz="1500" b="1">
                <a:solidFill>
                  <a:srgbClr val="0F1829"/>
                </a:solidFill>
                <a:latin typeface="Arial"/>
              </a:rPr>
              <a:t>Provenance</a:t>
            </a:r>
            <a:endParaRPr b="0" i="0" sz="1343" u="none" cap="none" strike="noStrike">
              <a:solidFill>
                <a:srgbClr val="202729"/>
              </a:solidFill>
              <a:latin typeface="Manrope SemiBold"/>
              <a:ea typeface="Manrope SemiBold"/>
              <a:cs typeface="Manrope SemiBold"/>
              <a:sym typeface="Manrope SemiBold"/>
            </a:endParaRPr>
          </a:p>
        </p:txBody>
      </p:sp>
      <p:sp>
        <p:nvSpPr>
          <p:cNvPr id="56" name="Google Shape;56;p13"/>
          <p:cNvSpPr txBox="1"/>
          <p:nvPr/>
        </p:nvSpPr>
        <p:spPr>
          <a:xfrm>
            <a:off x="402788" y="4250161"/>
            <a:ext cx="7152900" cy="342900"/>
          </a:xfrm>
          <a:prstGeom prst="rect">
            <a:avLst/>
          </a:prstGeom>
          <a:noFill/>
          <a:ln>
            <a:noFill/>
          </a:ln>
        </p:spPr>
        <p:txBody>
          <a:bodyPr anchorCtr="0" anchor="t" bIns="76750" lIns="76750" spcFirstLastPara="1" rIns="76750" wrap="square" tIns="76750">
            <a:normAutofit/>
          </a:bodyPr>
          <a:lstStyle/>
          <a:p>
            <a:pPr indent="0" lvl="0" marL="0" marR="0" rtl="0" algn="l">
              <a:lnSpc>
                <a:spcPct val="70000"/>
              </a:lnSpc>
              <a:spcBef>
                <a:spcPts val="0"/>
              </a:spcBef>
              <a:spcAft>
                <a:spcPts val="0"/>
              </a:spcAft>
              <a:buClr>
                <a:srgbClr val="000000"/>
              </a:buClr>
              <a:buSzPts val="1343"/>
              <a:buFont typeface="Arial"/>
              <a:buNone/>
            </a:pPr>
            <a:r>
              <a:rPr sz="1500" b="0">
                <a:solidFill>
                  <a:srgbClr val="465770"/>
                </a:solidFill>
                <a:latin typeface="Arial"/>
              </a:rPr>
              <a:t>Problem Statement :  </a:t>
            </a:r>
            <a:r>
              <a:rPr sz="1500" b="1">
                <a:solidFill>
                  <a:srgbClr val="0F1829"/>
                </a:solidFill>
                <a:latin typeface="Arial"/>
              </a:rPr>
              <a:t>1. Risk, Fraud and Regulatory Intelligence Copilot</a:t>
            </a:r>
            <a:endParaRPr b="0" i="0" sz="1343" u="none" cap="none" strike="noStrike">
              <a:solidFill>
                <a:srgbClr val="202729"/>
              </a:solidFill>
              <a:latin typeface="Manrope SemiBold"/>
              <a:ea typeface="Manrope SemiBold"/>
              <a:cs typeface="Manrope SemiBold"/>
              <a:sym typeface="Manrope SemiBold"/>
            </a:endParaRPr>
          </a:p>
        </p:txBody>
      </p:sp>
      <p:sp>
        <p:nvSpPr>
          <p:cNvPr id="57" name="Google Shape;57;p13"/>
          <p:cNvSpPr txBox="1"/>
          <p:nvPr/>
        </p:nvSpPr>
        <p:spPr>
          <a:xfrm>
            <a:off x="402798" y="3534656"/>
            <a:ext cx="7152900" cy="372600"/>
          </a:xfrm>
          <a:prstGeom prst="rect">
            <a:avLst/>
          </a:prstGeom>
          <a:noFill/>
          <a:ln>
            <a:noFill/>
          </a:ln>
        </p:spPr>
        <p:txBody>
          <a:bodyPr anchorCtr="0" anchor="t" bIns="76750" lIns="76750" spcFirstLastPara="1" rIns="76750" wrap="square" tIns="76750">
            <a:normAutofit/>
          </a:bodyPr>
          <a:lstStyle/>
          <a:p>
            <a:pPr indent="0" lvl="0" marL="0" marR="0" rtl="0" algn="l">
              <a:lnSpc>
                <a:spcPct val="80000"/>
              </a:lnSpc>
              <a:spcBef>
                <a:spcPts val="0"/>
              </a:spcBef>
              <a:spcAft>
                <a:spcPts val="0"/>
              </a:spcAft>
              <a:buClr>
                <a:srgbClr val="000000"/>
              </a:buClr>
              <a:buSzPts val="1343"/>
              <a:buFont typeface="Arial"/>
              <a:buNone/>
            </a:pPr>
            <a:r>
              <a:rPr sz="1500" b="0">
                <a:solidFill>
                  <a:srgbClr val="465770"/>
                </a:solidFill>
                <a:latin typeface="Arial"/>
              </a:rPr>
              <a:t>Team Leader Name :  </a:t>
            </a:r>
            <a:r>
              <a:rPr sz="1500" b="1">
                <a:solidFill>
                  <a:srgbClr val="0F1829"/>
                </a:solidFill>
                <a:latin typeface="Arial"/>
              </a:rPr>
              <a:t>Manoj T</a:t>
            </a:r>
            <a:endParaRPr b="0" i="0" sz="1343" u="none" cap="none" strike="noStrike">
              <a:solidFill>
                <a:srgbClr val="202729"/>
              </a:solidFill>
              <a:latin typeface="Manrope SemiBold"/>
              <a:ea typeface="Manrope SemiBold"/>
              <a:cs typeface="Manrope SemiBold"/>
              <a:sym typeface="Manrope SemiBold"/>
            </a:endParaRPr>
          </a:p>
        </p:txBody>
      </p:sp>
      <p:sp>
        <p:nvSpPr>
          <p:cNvPr id="58" name="Google Shape;58;p13"/>
          <p:cNvSpPr txBox="1"/>
          <p:nvPr/>
        </p:nvSpPr>
        <p:spPr>
          <a:xfrm>
            <a:off x="402788" y="3907261"/>
            <a:ext cx="7152900" cy="342900"/>
          </a:xfrm>
          <a:prstGeom prst="rect">
            <a:avLst/>
          </a:prstGeom>
          <a:noFill/>
          <a:ln>
            <a:noFill/>
          </a:ln>
        </p:spPr>
        <p:txBody>
          <a:bodyPr anchorCtr="0" anchor="t" bIns="76750" lIns="76750" spcFirstLastPara="1" rIns="76750" wrap="square" tIns="76750">
            <a:normAutofit/>
          </a:bodyPr>
          <a:lstStyle/>
          <a:p>
            <a:pPr indent="0" lvl="0" marL="0" marR="0" rtl="0" algn="l">
              <a:lnSpc>
                <a:spcPct val="70000"/>
              </a:lnSpc>
              <a:spcBef>
                <a:spcPts val="0"/>
              </a:spcBef>
              <a:spcAft>
                <a:spcPts val="0"/>
              </a:spcAft>
              <a:buClr>
                <a:srgbClr val="000000"/>
              </a:buClr>
              <a:buSzPts val="1343"/>
              <a:buFont typeface="Arial"/>
              <a:buNone/>
            </a:pPr>
            <a:r>
              <a:rPr sz="1500" b="0">
                <a:solidFill>
                  <a:srgbClr val="465770"/>
                </a:solidFill>
                <a:latin typeface="Arial"/>
              </a:rPr>
              <a:t>Team Size :  </a:t>
            </a:r>
            <a:r>
              <a:rPr sz="1500" b="1">
                <a:solidFill>
                  <a:srgbClr val="0F1829"/>
                </a:solidFill>
                <a:latin typeface="Arial"/>
              </a:rPr>
              <a:t>2</a:t>
            </a:r>
            <a:endParaRPr b="0" i="0" sz="1343" u="none" cap="none" strike="noStrike">
              <a:solidFill>
                <a:srgbClr val="202729"/>
              </a:solidFill>
              <a:latin typeface="Manrope SemiBold"/>
              <a:ea typeface="Manrope SemiBold"/>
              <a:cs typeface="Manrope SemiBold"/>
              <a:sym typeface="Manrope SemiBo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pic>
        <p:nvPicPr>
          <p:cNvPr id="63" name="Google Shape;63;p14" title="Framewsxexexe 233.png"/>
          <p:cNvPicPr preferRelativeResize="0"/>
          <p:nvPr/>
        </p:nvPicPr>
        <p:blipFill rotWithShape="1">
          <a:blip r:embed="rId3">
            <a:alphaModFix/>
          </a:blip>
          <a:srcRect b="0" l="0" r="0" t="0"/>
          <a:stretch/>
        </p:blipFill>
        <p:spPr>
          <a:xfrm>
            <a:off x="0" y="0"/>
            <a:ext cx="9144018" cy="5143501"/>
          </a:xfrm>
          <a:prstGeom prst="rect">
            <a:avLst/>
          </a:prstGeom>
          <a:noFill/>
          <a:ln>
            <a:noFill/>
          </a:ln>
        </p:spPr>
      </p:pic>
      <p:sp>
        <p:nvSpPr>
          <p:cNvPr id="64" name="TextBox 63"/>
          <p:cNvSpPr txBox="1"/>
          <p:nvPr/>
        </p:nvSpPr>
        <p:spPr>
          <a:xfrm>
            <a:off x="470000" y="600000"/>
            <a:ext cx="8204000" cy="420000"/>
          </a:xfrm>
          <a:prstGeom prst="rect">
            <a:avLst/>
          </a:prstGeom>
          <a:noFill/>
        </p:spPr>
        <p:txBody>
          <a:bodyPr wrap="square" lIns="0" rIns="0" tIns="0" bIns="0">
            <a:spAutoFit/>
          </a:bodyPr>
          <a:lstStyle/>
          <a:p>
            <a:pPr algn="l">
              <a:spcAft>
                <a:spcPts val="0"/>
              </a:spcAft>
            </a:pPr>
            <a:r>
              <a:rPr sz="2500" b="1">
                <a:solidFill>
                  <a:srgbClr val="0F1829"/>
                </a:solidFill>
                <a:latin typeface="Arial"/>
              </a:rPr>
              <a:t>The problem</a:t>
            </a:r>
          </a:p>
        </p:txBody>
      </p:sp>
      <p:sp>
        <p:nvSpPr>
          <p:cNvPr id="65" name="TextBox 64"/>
          <p:cNvSpPr txBox="1"/>
          <p:nvPr/>
        </p:nvSpPr>
        <p:spPr>
          <a:xfrm>
            <a:off x="470000" y="1030000"/>
            <a:ext cx="8204000" cy="260000"/>
          </a:xfrm>
          <a:prstGeom prst="rect">
            <a:avLst/>
          </a:prstGeom>
          <a:noFill/>
        </p:spPr>
        <p:txBody>
          <a:bodyPr wrap="square" lIns="0" rIns="0" tIns="0" bIns="0">
            <a:spAutoFit/>
          </a:bodyPr>
          <a:lstStyle/>
          <a:p>
            <a:pPr algn="l">
              <a:spcAft>
                <a:spcPts val="0"/>
              </a:spcAft>
            </a:pPr>
            <a:r>
              <a:rPr sz="1100" b="0">
                <a:solidFill>
                  <a:srgbClr val="8A99AD"/>
                </a:solidFill>
                <a:latin typeface="Arial"/>
              </a:rPr>
              <a:t>Risk, Fraud and Regulatory Intelligence Copilot   ·   banking and NBFC</a:t>
            </a:r>
          </a:p>
        </p:txBody>
      </p:sp>
      <p:sp>
        <p:nvSpPr>
          <p:cNvPr id="66" name="Rounded Rectangle 65"/>
          <p:cNvSpPr/>
          <p:nvPr/>
        </p:nvSpPr>
        <p:spPr>
          <a:xfrm>
            <a:off x="470000" y="1510000"/>
            <a:ext cx="8204000" cy="720000"/>
          </a:xfrm>
          <a:prstGeom prst="roundRect">
            <a:avLst>
              <a:gd name="adj" fmla="val 9000"/>
            </a:avLst>
          </a:prstGeom>
          <a:solidFill>
            <a:srgbClr val="0E162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90000" bIns="90000"/>
          <a:lstStyle/>
          <a:p>
            <a:pPr algn="ctr">
              <a:spcAft>
                <a:spcPts val="0"/>
              </a:spcAft>
            </a:pPr>
            <a:r>
              <a:rPr sz="1800" b="0">
                <a:solidFill>
                  <a:srgbClr val="FFFFFF"/>
                </a:solidFill>
                <a:latin typeface="Arial"/>
              </a:rPr>
              <a:t>Finding the risk signal is cheap.   </a:t>
            </a:r>
            <a:r>
              <a:rPr sz="1800" b="1">
                <a:solidFill>
                  <a:srgbClr val="29B5E8"/>
                </a:solidFill>
                <a:latin typeface="Arial"/>
              </a:rPr>
              <a:t>Defending the number is expensive.</a:t>
            </a:r>
          </a:p>
        </p:txBody>
      </p:sp>
      <p:sp>
        <p:nvSpPr>
          <p:cNvPr id="67" name="Rounded Rectangle 66"/>
          <p:cNvSpPr/>
          <p:nvPr/>
        </p:nvSpPr>
        <p:spPr>
          <a:xfrm>
            <a:off x="470000" y="2510000"/>
            <a:ext cx="2594666" cy="1024830"/>
          </a:xfrm>
          <a:prstGeom prst="roundRect">
            <a:avLst>
              <a:gd name="adj" fmla="val 9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t" wrap="square" lIns="130000" rIns="130000" tIns="90000" bIns="90000"/>
          <a:lstStyle/>
          <a:p>
            <a:pPr algn="l">
              <a:spcAft>
                <a:spcPts val="700"/>
              </a:spcAft>
            </a:pPr>
            <a:r>
              <a:rPr sz="950" b="1">
                <a:solidFill>
                  <a:srgbClr val="0C7FAA"/>
                </a:solidFill>
                <a:latin typeface="Arial"/>
              </a:rPr>
              <a:t>TODAY</a:t>
            </a:r>
          </a:p>
          <a:p>
            <a:pPr algn="l">
              <a:spcAft>
                <a:spcPts val="700"/>
              </a:spcAft>
            </a:pPr>
            <a:r>
              <a:rPr sz="1100" b="0">
                <a:solidFill>
                  <a:srgbClr val="465770"/>
                </a:solidFill>
                <a:latin typeface="Arial"/>
              </a:rPr>
              <a:t>Ten minutes to find the signal. Two days to assemble an evidence pack an auditor will accept.</a:t>
            </a:r>
          </a:p>
        </p:txBody>
      </p:sp>
      <p:sp>
        <p:nvSpPr>
          <p:cNvPr id="68" name="Rounded Rectangle 67"/>
          <p:cNvSpPr/>
          <p:nvPr/>
        </p:nvSpPr>
        <p:spPr>
          <a:xfrm>
            <a:off x="3274666" y="2510000"/>
            <a:ext cx="2594666" cy="1024830"/>
          </a:xfrm>
          <a:prstGeom prst="roundRect">
            <a:avLst>
              <a:gd name="adj" fmla="val 9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t" wrap="square" lIns="130000" rIns="130000" tIns="90000" bIns="90000"/>
          <a:lstStyle/>
          <a:p>
            <a:pPr algn="l">
              <a:spcAft>
                <a:spcPts val="700"/>
              </a:spcAft>
            </a:pPr>
            <a:r>
              <a:rPr sz="950" b="1">
                <a:solidFill>
                  <a:srgbClr val="0C7FAA"/>
                </a:solidFill>
                <a:latin typeface="Arial"/>
              </a:rPr>
              <a:t>THE GAP</a:t>
            </a:r>
          </a:p>
          <a:p>
            <a:pPr algn="l">
              <a:spcAft>
                <a:spcPts val="700"/>
              </a:spcAft>
            </a:pPr>
            <a:r>
              <a:rPr sz="1100" b="0">
                <a:solidFill>
                  <a:srgbClr val="465770"/>
                </a:solidFill>
                <a:latin typeface="Arial"/>
              </a:rPr>
              <a:t>Ask two analysts the same question and they compute it differently. Booking or value date. Reversals in or out.</a:t>
            </a:r>
          </a:p>
        </p:txBody>
      </p:sp>
      <p:sp>
        <p:nvSpPr>
          <p:cNvPr id="69" name="Rounded Rectangle 68"/>
          <p:cNvSpPr/>
          <p:nvPr/>
        </p:nvSpPr>
        <p:spPr>
          <a:xfrm>
            <a:off x="6079332" y="2510000"/>
            <a:ext cx="2594666" cy="1024830"/>
          </a:xfrm>
          <a:prstGeom prst="roundRect">
            <a:avLst>
              <a:gd name="adj" fmla="val 9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t" wrap="square" lIns="130000" rIns="130000" tIns="90000" bIns="90000"/>
          <a:lstStyle/>
          <a:p>
            <a:pPr algn="l">
              <a:spcAft>
                <a:spcPts val="700"/>
              </a:spcAft>
            </a:pPr>
            <a:r>
              <a:rPr sz="950" b="1">
                <a:solidFill>
                  <a:srgbClr val="0C7FAA"/>
                </a:solidFill>
                <a:latin typeface="Arial"/>
              </a:rPr>
              <a:t>THE USER</a:t>
            </a:r>
          </a:p>
          <a:p>
            <a:pPr algn="l">
              <a:spcAft>
                <a:spcPts val="700"/>
              </a:spcAft>
            </a:pPr>
            <a:r>
              <a:rPr sz="1100" b="0">
                <a:solidFill>
                  <a:srgbClr val="465770"/>
                </a:solidFill>
                <a:latin typeface="Arial"/>
              </a:rPr>
              <a:t>A compliance analyst or MLRO at a mid-sized bank who has to put their name on the number.</a:t>
            </a:r>
          </a:p>
        </p:txBody>
      </p:sp>
      <p:sp>
        <p:nvSpPr>
          <p:cNvPr id="70" name="Rounded Rectangle 69"/>
          <p:cNvSpPr/>
          <p:nvPr/>
        </p:nvSpPr>
        <p:spPr>
          <a:xfrm>
            <a:off x="470000" y="3814830"/>
            <a:ext cx="8204000" cy="572750"/>
          </a:xfrm>
          <a:prstGeom prst="roundRect">
            <a:avLst>
              <a:gd name="adj" fmla="val 9000"/>
            </a:avLst>
          </a:prstGeom>
          <a:solidFill>
            <a:srgbClr val="F3F6FA"/>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90000" bIns="90000"/>
          <a:lstStyle/>
          <a:p>
            <a:pPr algn="l">
              <a:spcAft>
                <a:spcPts val="0"/>
              </a:spcAft>
            </a:pPr>
            <a:r>
              <a:rPr sz="1250" b="0">
                <a:solidFill>
                  <a:srgbClr val="0F1829"/>
                </a:solidFill>
                <a:latin typeface="Arial"/>
              </a:rPr>
              <a:t>PaperTrail does not answer with a number. It answers with a filing, in which every figure is a footnote that resolves to its governed definition, the exact SQL, the source rows, and the clause that makes it matter.</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Framewsxexexe 233.png"/>
          <p:cNvPicPr preferRelativeResize="0"/>
          <p:nvPr/>
        </p:nvPicPr>
        <p:blipFill rotWithShape="1">
          <a:blip r:embed="rId3">
            <a:alphaModFix/>
          </a:blip>
          <a:srcRect b="0" l="0" r="0" t="0"/>
          <a:stretch/>
        </p:blipFill>
        <p:spPr>
          <a:xfrm>
            <a:off x="0" y="0"/>
            <a:ext cx="9144018" cy="5143501"/>
          </a:xfrm>
          <a:prstGeom prst="rect">
            <a:avLst/>
          </a:prstGeom>
          <a:noFill/>
          <a:ln>
            <a:noFill/>
          </a:ln>
        </p:spPr>
      </p:pic>
      <p:sp>
        <p:nvSpPr>
          <p:cNvPr id="70" name="TextBox 69"/>
          <p:cNvSpPr txBox="1"/>
          <p:nvPr/>
        </p:nvSpPr>
        <p:spPr>
          <a:xfrm>
            <a:off x="470000" y="600000"/>
            <a:ext cx="8204000" cy="420000"/>
          </a:xfrm>
          <a:prstGeom prst="rect">
            <a:avLst/>
          </a:prstGeom>
          <a:noFill/>
        </p:spPr>
        <p:txBody>
          <a:bodyPr wrap="square" lIns="0" rIns="0" tIns="0" bIns="0">
            <a:spAutoFit/>
          </a:bodyPr>
          <a:lstStyle/>
          <a:p>
            <a:pPr algn="l">
              <a:spcAft>
                <a:spcPts val="0"/>
              </a:spcAft>
            </a:pPr>
            <a:r>
              <a:rPr sz="2500" b="1">
                <a:solidFill>
                  <a:srgbClr val="0F1829"/>
                </a:solidFill>
                <a:latin typeface="Arial"/>
              </a:rPr>
              <a:t>Architecture</a:t>
            </a:r>
          </a:p>
        </p:txBody>
      </p:sp>
      <p:sp>
        <p:nvSpPr>
          <p:cNvPr id="71" name="TextBox 70"/>
          <p:cNvSpPr txBox="1"/>
          <p:nvPr/>
        </p:nvSpPr>
        <p:spPr>
          <a:xfrm>
            <a:off x="470000" y="1030000"/>
            <a:ext cx="8204000" cy="260000"/>
          </a:xfrm>
          <a:prstGeom prst="rect">
            <a:avLst/>
          </a:prstGeom>
          <a:noFill/>
        </p:spPr>
        <p:txBody>
          <a:bodyPr wrap="square" lIns="0" rIns="0" tIns="0" bIns="0">
            <a:spAutoFit/>
          </a:bodyPr>
          <a:lstStyle/>
          <a:p>
            <a:pPr algn="l">
              <a:spcAft>
                <a:spcPts val="0"/>
              </a:spcAft>
            </a:pPr>
            <a:r>
              <a:rPr sz="1100" b="0">
                <a:solidFill>
                  <a:srgbClr val="8A99AD"/>
                </a:solidFill>
                <a:latin typeface="Arial"/>
              </a:rPr>
              <a:t>Snowflake-native, end to end. No LangChain, no external vector store, no third-party LLM API.</a:t>
            </a:r>
          </a:p>
        </p:txBody>
      </p:sp>
      <p:sp>
        <p:nvSpPr>
          <p:cNvPr id="72" name="Rounded Rectangle 71"/>
          <p:cNvSpPr/>
          <p:nvPr/>
        </p:nvSpPr>
        <p:spPr>
          <a:xfrm>
            <a:off x="470000" y="1510000"/>
            <a:ext cx="3942000" cy="380000"/>
          </a:xfrm>
          <a:prstGeom prst="roundRect">
            <a:avLst>
              <a:gd name="adj" fmla="val 9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90000" bIns="90000"/>
          <a:lstStyle/>
          <a:p>
            <a:pPr algn="ctr">
              <a:spcAft>
                <a:spcPts val="100"/>
              </a:spcAft>
            </a:pPr>
            <a:r>
              <a:rPr sz="1050" b="1">
                <a:solidFill>
                  <a:srgbClr val="0C7FAA"/>
                </a:solidFill>
                <a:latin typeface="Arial"/>
              </a:rPr>
              <a:t>STRUCTURED</a:t>
            </a:r>
          </a:p>
          <a:p>
            <a:pPr algn="ctr">
              <a:spcAft>
                <a:spcPts val="100"/>
              </a:spcAft>
            </a:pPr>
            <a:r>
              <a:rPr sz="850" b="0">
                <a:solidFill>
                  <a:srgbClr val="8A99AD"/>
                </a:solidFill>
                <a:latin typeface="Arial"/>
              </a:rPr>
              <a:t>240,798 transactions  ·  809 counterparties</a:t>
            </a:r>
          </a:p>
        </p:txBody>
      </p:sp>
      <p:sp>
        <p:nvSpPr>
          <p:cNvPr id="73" name="Rounded Rectangle 72"/>
          <p:cNvSpPr/>
          <p:nvPr/>
        </p:nvSpPr>
        <p:spPr>
          <a:xfrm>
            <a:off x="4732000" y="1510000"/>
            <a:ext cx="3942000" cy="380000"/>
          </a:xfrm>
          <a:prstGeom prst="roundRect">
            <a:avLst>
              <a:gd name="adj" fmla="val 9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90000" bIns="90000"/>
          <a:lstStyle/>
          <a:p>
            <a:pPr algn="ctr">
              <a:spcAft>
                <a:spcPts val="100"/>
              </a:spcAft>
            </a:pPr>
            <a:r>
              <a:rPr sz="1050" b="1">
                <a:solidFill>
                  <a:srgbClr val="0C7FAA"/>
                </a:solidFill>
                <a:latin typeface="Arial"/>
              </a:rPr>
              <a:t>UNSTRUCTURED</a:t>
            </a:r>
          </a:p>
          <a:p>
            <a:pPr algn="ctr">
              <a:spcAft>
                <a:spcPts val="100"/>
              </a:spcAft>
            </a:pPr>
            <a:r>
              <a:rPr sz="850" b="0">
                <a:solidFill>
                  <a:srgbClr val="8A99AD"/>
                </a:solidFill>
                <a:latin typeface="Arial"/>
              </a:rPr>
              <a:t>11 regulatory PDFs  ·  AI_PARSE_DOCUMENT</a:t>
            </a:r>
          </a:p>
        </p:txBody>
      </p:sp>
      <p:cxnSp>
        <p:nvCxnSpPr>
          <p:cNvPr id="74" name="Connector 73"/>
          <p:cNvCxnSpPr/>
          <p:nvPr/>
        </p:nvCxnSpPr>
        <p:spPr>
          <a:xfrm>
            <a:off x="2441000" y="1890000"/>
            <a:ext cx="0" cy="140000"/>
          </a:xfrm>
          <a:prstGeom prst="line">
            <a:avLst/>
          </a:prstGeom>
          <a:ln w="15875">
            <a:solidFill>
              <a:srgbClr val="0C7FAA"/>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6703000" y="1890000"/>
            <a:ext cx="0" cy="140000"/>
          </a:xfrm>
          <a:prstGeom prst="line">
            <a:avLst/>
          </a:prstGeom>
          <a:ln w="15875">
            <a:solidFill>
              <a:srgbClr val="0C7FAA"/>
            </a:solidFill>
            <a:tailEnd type="triangle" w="sm" len="sm"/>
          </a:ln>
        </p:spPr>
        <p:style>
          <a:lnRef idx="2">
            <a:schemeClr val="accent1"/>
          </a:lnRef>
          <a:fillRef idx="0">
            <a:schemeClr val="accent1"/>
          </a:fillRef>
          <a:effectRef idx="1">
            <a:schemeClr val="accent1"/>
          </a:effectRef>
          <a:fontRef idx="minor">
            <a:schemeClr val="tx1"/>
          </a:fontRef>
        </p:style>
      </p:cxnSp>
      <p:sp>
        <p:nvSpPr>
          <p:cNvPr id="76" name="Rounded Rectangle 75"/>
          <p:cNvSpPr/>
          <p:nvPr/>
        </p:nvSpPr>
        <p:spPr>
          <a:xfrm>
            <a:off x="470000" y="2030000"/>
            <a:ext cx="3942000" cy="380000"/>
          </a:xfrm>
          <a:prstGeom prst="roundRect">
            <a:avLst>
              <a:gd name="adj" fmla="val 9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90000" bIns="90000"/>
          <a:lstStyle/>
          <a:p>
            <a:pPr algn="ctr">
              <a:spcAft>
                <a:spcPts val="100"/>
              </a:spcAft>
            </a:pPr>
            <a:r>
              <a:rPr sz="1050" b="1">
                <a:solidFill>
                  <a:srgbClr val="0C7FAA"/>
                </a:solidFill>
                <a:latin typeface="Arial"/>
              </a:rPr>
              <a:t>RAW to CURATED to GOLD</a:t>
            </a:r>
          </a:p>
          <a:p>
            <a:pPr algn="ctr">
              <a:spcAft>
                <a:spcPts val="100"/>
              </a:spcAft>
            </a:pPr>
            <a:r>
              <a:rPr sz="850" b="0">
                <a:solidFill>
                  <a:srgbClr val="8A99AD"/>
                </a:solidFill>
                <a:latin typeface="Arial"/>
              </a:rPr>
              <a:t>9 Dynamic Tables  ·  entity resolution</a:t>
            </a:r>
          </a:p>
        </p:txBody>
      </p:sp>
      <p:sp>
        <p:nvSpPr>
          <p:cNvPr id="77" name="Rounded Rectangle 76"/>
          <p:cNvSpPr/>
          <p:nvPr/>
        </p:nvSpPr>
        <p:spPr>
          <a:xfrm>
            <a:off x="4732000" y="2030000"/>
            <a:ext cx="3942000" cy="380000"/>
          </a:xfrm>
          <a:prstGeom prst="roundRect">
            <a:avLst>
              <a:gd name="adj" fmla="val 9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90000" bIns="90000"/>
          <a:lstStyle/>
          <a:p>
            <a:pPr algn="ctr">
              <a:spcAft>
                <a:spcPts val="100"/>
              </a:spcAft>
            </a:pPr>
            <a:r>
              <a:rPr sz="1050" b="1">
                <a:solidFill>
                  <a:srgbClr val="0C7FAA"/>
                </a:solidFill>
                <a:latin typeface="Arial"/>
              </a:rPr>
              <a:t>CORTEX SEARCH</a:t>
            </a:r>
          </a:p>
          <a:p>
            <a:pPr algn="ctr">
              <a:spcAft>
                <a:spcPts val="100"/>
              </a:spcAft>
            </a:pPr>
            <a:r>
              <a:rPr sz="850" b="0">
                <a:solidFill>
                  <a:srgbClr val="8A99AD"/>
                </a:solidFill>
                <a:latin typeface="Arial"/>
              </a:rPr>
              <a:t>72 clauses  ·  11 of 12 top-1 retrieval</a:t>
            </a:r>
          </a:p>
        </p:txBody>
      </p:sp>
      <p:cxnSp>
        <p:nvCxnSpPr>
          <p:cNvPr id="78" name="Connector 77"/>
          <p:cNvCxnSpPr/>
          <p:nvPr/>
        </p:nvCxnSpPr>
        <p:spPr>
          <a:xfrm>
            <a:off x="2441000" y="2410000"/>
            <a:ext cx="0" cy="140000"/>
          </a:xfrm>
          <a:prstGeom prst="line">
            <a:avLst/>
          </a:prstGeom>
          <a:ln w="15875">
            <a:solidFill>
              <a:srgbClr val="0C7FAA"/>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6703000" y="2410000"/>
            <a:ext cx="0" cy="140000"/>
          </a:xfrm>
          <a:prstGeom prst="line">
            <a:avLst/>
          </a:prstGeom>
          <a:ln w="15875">
            <a:solidFill>
              <a:srgbClr val="0C7FAA"/>
            </a:solidFill>
            <a:tailEnd type="triangle" w="sm" len="sm"/>
          </a:ln>
        </p:spPr>
        <p:style>
          <a:lnRef idx="2">
            <a:schemeClr val="accent1"/>
          </a:lnRef>
          <a:fillRef idx="0">
            <a:schemeClr val="accent1"/>
          </a:fillRef>
          <a:effectRef idx="1">
            <a:schemeClr val="accent1"/>
          </a:effectRef>
          <a:fontRef idx="minor">
            <a:schemeClr val="tx1"/>
          </a:fontRef>
        </p:style>
      </p:cxnSp>
      <p:sp>
        <p:nvSpPr>
          <p:cNvPr id="80" name="Rounded Rectangle 79"/>
          <p:cNvSpPr/>
          <p:nvPr/>
        </p:nvSpPr>
        <p:spPr>
          <a:xfrm>
            <a:off x="470000" y="2550000"/>
            <a:ext cx="3942000" cy="380000"/>
          </a:xfrm>
          <a:prstGeom prst="roundRect">
            <a:avLst>
              <a:gd name="adj" fmla="val 9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90000" bIns="90000"/>
          <a:lstStyle/>
          <a:p>
            <a:pPr algn="ctr">
              <a:spcAft>
                <a:spcPts val="100"/>
              </a:spcAft>
            </a:pPr>
            <a:r>
              <a:rPr sz="1050" b="1">
                <a:solidFill>
                  <a:srgbClr val="0C7FAA"/>
                </a:solidFill>
                <a:latin typeface="Arial"/>
              </a:rPr>
              <a:t>SEMANTIC VIEW</a:t>
            </a:r>
          </a:p>
          <a:p>
            <a:pPr algn="ctr">
              <a:spcAft>
                <a:spcPts val="100"/>
              </a:spcAft>
            </a:pPr>
            <a:r>
              <a:rPr sz="850" b="0">
                <a:solidFill>
                  <a:srgbClr val="8A99AD"/>
                </a:solidFill>
                <a:latin typeface="Arial"/>
              </a:rPr>
              <a:t>7 governed metrics  ·  10 verified queries</a:t>
            </a:r>
          </a:p>
        </p:txBody>
      </p:sp>
      <p:sp>
        <p:nvSpPr>
          <p:cNvPr id="81" name="Rounded Rectangle 80"/>
          <p:cNvSpPr/>
          <p:nvPr/>
        </p:nvSpPr>
        <p:spPr>
          <a:xfrm>
            <a:off x="4732000" y="2550000"/>
            <a:ext cx="3942000" cy="380000"/>
          </a:xfrm>
          <a:prstGeom prst="roundRect">
            <a:avLst>
              <a:gd name="adj" fmla="val 9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90000" bIns="90000"/>
          <a:lstStyle/>
          <a:p>
            <a:pPr algn="ctr">
              <a:spcAft>
                <a:spcPts val="100"/>
              </a:spcAft>
            </a:pPr>
            <a:r>
              <a:rPr sz="1050" b="1">
                <a:solidFill>
                  <a:srgbClr val="0C7FAA"/>
                </a:solidFill>
                <a:latin typeface="Arial"/>
              </a:rPr>
              <a:t>ROW ACCESS POLICIES</a:t>
            </a:r>
          </a:p>
          <a:p>
            <a:pPr algn="ctr">
              <a:spcAft>
                <a:spcPts val="100"/>
              </a:spcAft>
            </a:pPr>
            <a:r>
              <a:rPr sz="850" b="0">
                <a:solidFill>
                  <a:srgbClr val="8A99AD"/>
                </a:solidFill>
                <a:latin typeface="Arial"/>
              </a:rPr>
              <a:t>AU and SG analyst personas</a:t>
            </a:r>
          </a:p>
        </p:txBody>
      </p:sp>
      <p:cxnSp>
        <p:nvCxnSpPr>
          <p:cNvPr id="82" name="Connector 81"/>
          <p:cNvCxnSpPr/>
          <p:nvPr/>
        </p:nvCxnSpPr>
        <p:spPr>
          <a:xfrm>
            <a:off x="2441000" y="2930000"/>
            <a:ext cx="0" cy="140000"/>
          </a:xfrm>
          <a:prstGeom prst="line">
            <a:avLst/>
          </a:prstGeom>
          <a:ln w="15875">
            <a:solidFill>
              <a:srgbClr val="0C7FAA"/>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6703000" y="2930000"/>
            <a:ext cx="0" cy="140000"/>
          </a:xfrm>
          <a:prstGeom prst="line">
            <a:avLst/>
          </a:prstGeom>
          <a:ln w="15875">
            <a:solidFill>
              <a:srgbClr val="0C7FAA"/>
            </a:solidFill>
            <a:tailEnd type="triangle" w="sm" len="sm"/>
          </a:ln>
        </p:spPr>
        <p:style>
          <a:lnRef idx="2">
            <a:schemeClr val="accent1"/>
          </a:lnRef>
          <a:fillRef idx="0">
            <a:schemeClr val="accent1"/>
          </a:fillRef>
          <a:effectRef idx="1">
            <a:schemeClr val="accent1"/>
          </a:effectRef>
          <a:fontRef idx="minor">
            <a:schemeClr val="tx1"/>
          </a:fontRef>
        </p:style>
      </p:cxnSp>
      <p:sp>
        <p:nvSpPr>
          <p:cNvPr id="84" name="Rounded Rectangle 83"/>
          <p:cNvSpPr/>
          <p:nvPr/>
        </p:nvSpPr>
        <p:spPr>
          <a:xfrm>
            <a:off x="470000" y="3070000"/>
            <a:ext cx="8204000" cy="420000"/>
          </a:xfrm>
          <a:prstGeom prst="roundRect">
            <a:avLst>
              <a:gd name="adj" fmla="val 9000"/>
            </a:avLst>
          </a:prstGeom>
          <a:solidFill>
            <a:srgbClr val="0E162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90000" bIns="90000"/>
          <a:lstStyle/>
          <a:p>
            <a:pPr algn="ctr">
              <a:spcAft>
                <a:spcPts val="0"/>
              </a:spcAft>
            </a:pPr>
            <a:r>
              <a:rPr sz="1100" b="1">
                <a:solidFill>
                  <a:srgbClr val="29B5E8"/>
                </a:solidFill>
                <a:latin typeface="Arial"/>
              </a:rPr>
              <a:t>CORTEX AGENT</a:t>
            </a:r>
            <a:r>
              <a:rPr sz="1000" b="0">
                <a:solidFill>
                  <a:srgbClr val="FFFFFF"/>
                </a:solidFill>
                <a:latin typeface="Arial"/>
              </a:rPr>
              <a:t>      figures to Analyst   ·   rules to Search   ·   refuses what it cannot ground</a:t>
            </a:r>
          </a:p>
        </p:txBody>
      </p:sp>
      <p:sp>
        <p:nvSpPr>
          <p:cNvPr id="85" name="Rounded Rectangle 84"/>
          <p:cNvSpPr/>
          <p:nvPr/>
        </p:nvSpPr>
        <p:spPr>
          <a:xfrm>
            <a:off x="470000" y="3640000"/>
            <a:ext cx="1931000" cy="520000"/>
          </a:xfrm>
          <a:prstGeom prst="roundRect">
            <a:avLst>
              <a:gd name="adj" fmla="val 9000"/>
            </a:avLst>
          </a:prstGeom>
          <a:solidFill>
            <a:srgbClr val="FFFFFF"/>
          </a:solidFill>
          <a:ln w="9525">
            <a:solidFill>
              <a:srgbClr val="0C7FAA"/>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90000" bIns="90000"/>
          <a:lstStyle/>
          <a:p>
            <a:pPr algn="ctr">
              <a:spcAft>
                <a:spcPts val="100"/>
              </a:spcAft>
            </a:pPr>
            <a:r>
              <a:rPr sz="1000" b="1">
                <a:solidFill>
                  <a:srgbClr val="0C7FAA"/>
                </a:solidFill>
                <a:latin typeface="Arial"/>
              </a:rPr>
              <a:t>risk-scanner</a:t>
            </a:r>
          </a:p>
          <a:p>
            <a:pPr algn="ctr">
              <a:spcAft>
                <a:spcPts val="100"/>
              </a:spcAft>
            </a:pPr>
            <a:r>
              <a:rPr sz="800" b="0">
                <a:solidFill>
                  <a:srgbClr val="8A99AD"/>
                </a:solidFill>
                <a:latin typeface="Arial"/>
              </a:rPr>
              <a:t>governed query,
provenance bundle</a:t>
            </a:r>
          </a:p>
        </p:txBody>
      </p:sp>
      <p:cxnSp>
        <p:nvCxnSpPr>
          <p:cNvPr id="86" name="Connector 85"/>
          <p:cNvCxnSpPr/>
          <p:nvPr/>
        </p:nvCxnSpPr>
        <p:spPr>
          <a:xfrm>
            <a:off x="2401000" y="3900000"/>
            <a:ext cx="160000" cy="0"/>
          </a:xfrm>
          <a:prstGeom prst="line">
            <a:avLst/>
          </a:prstGeom>
          <a:ln w="15875">
            <a:solidFill>
              <a:srgbClr val="0C7FAA"/>
            </a:solidFill>
            <a:tailEnd type="triangle" w="sm" len="sm"/>
          </a:ln>
        </p:spPr>
        <p:style>
          <a:lnRef idx="2">
            <a:schemeClr val="accent1"/>
          </a:lnRef>
          <a:fillRef idx="0">
            <a:schemeClr val="accent1"/>
          </a:fillRef>
          <a:effectRef idx="1">
            <a:schemeClr val="accent1"/>
          </a:effectRef>
          <a:fontRef idx="minor">
            <a:schemeClr val="tx1"/>
          </a:fontRef>
        </p:style>
      </p:cxnSp>
      <p:sp>
        <p:nvSpPr>
          <p:cNvPr id="87" name="Rounded Rectangle 86"/>
          <p:cNvSpPr/>
          <p:nvPr/>
        </p:nvSpPr>
        <p:spPr>
          <a:xfrm>
            <a:off x="2561000" y="3640000"/>
            <a:ext cx="1931000" cy="520000"/>
          </a:xfrm>
          <a:prstGeom prst="roundRect">
            <a:avLst>
              <a:gd name="adj" fmla="val 9000"/>
            </a:avLst>
          </a:prstGeom>
          <a:solidFill>
            <a:srgbClr val="FFFFFF"/>
          </a:solidFill>
          <a:ln w="9525">
            <a:solidFill>
              <a:srgbClr val="0C7FAA"/>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90000" bIns="90000"/>
          <a:lstStyle/>
          <a:p>
            <a:pPr algn="ctr">
              <a:spcAft>
                <a:spcPts val="100"/>
              </a:spcAft>
            </a:pPr>
            <a:r>
              <a:rPr sz="1000" b="1">
                <a:solidFill>
                  <a:srgbClr val="0C7FAA"/>
                </a:solidFill>
                <a:latin typeface="Arial"/>
              </a:rPr>
              <a:t>regulation-linker</a:t>
            </a:r>
          </a:p>
          <a:p>
            <a:pPr algn="ctr">
              <a:spcAft>
                <a:spcPts val="100"/>
              </a:spcAft>
            </a:pPr>
            <a:r>
              <a:rPr sz="800" b="0">
                <a:solidFill>
                  <a:srgbClr val="8A99AD"/>
                </a:solidFill>
                <a:latin typeface="Arial"/>
              </a:rPr>
              <a:t>clause retrieval
with citations</a:t>
            </a:r>
          </a:p>
        </p:txBody>
      </p:sp>
      <p:cxnSp>
        <p:nvCxnSpPr>
          <p:cNvPr id="88" name="Connector 87"/>
          <p:cNvCxnSpPr/>
          <p:nvPr/>
        </p:nvCxnSpPr>
        <p:spPr>
          <a:xfrm>
            <a:off x="4492000" y="3900000"/>
            <a:ext cx="160000" cy="0"/>
          </a:xfrm>
          <a:prstGeom prst="line">
            <a:avLst/>
          </a:prstGeom>
          <a:ln w="15875">
            <a:solidFill>
              <a:srgbClr val="0C7FAA"/>
            </a:solidFill>
            <a:tailEnd type="triangle" w="sm" len="sm"/>
          </a:ln>
        </p:spPr>
        <p:style>
          <a:lnRef idx="2">
            <a:schemeClr val="accent1"/>
          </a:lnRef>
          <a:fillRef idx="0">
            <a:schemeClr val="accent1"/>
          </a:fillRef>
          <a:effectRef idx="1">
            <a:schemeClr val="accent1"/>
          </a:effectRef>
          <a:fontRef idx="minor">
            <a:schemeClr val="tx1"/>
          </a:fontRef>
        </p:style>
      </p:cxnSp>
      <p:sp>
        <p:nvSpPr>
          <p:cNvPr id="89" name="Rounded Rectangle 88"/>
          <p:cNvSpPr/>
          <p:nvPr/>
        </p:nvSpPr>
        <p:spPr>
          <a:xfrm>
            <a:off x="4652000" y="3640000"/>
            <a:ext cx="1931000" cy="520000"/>
          </a:xfrm>
          <a:prstGeom prst="roundRect">
            <a:avLst>
              <a:gd name="adj" fmla="val 9000"/>
            </a:avLst>
          </a:prstGeom>
          <a:solidFill>
            <a:srgbClr val="FFFFFF"/>
          </a:solidFill>
          <a:ln w="9525">
            <a:solidFill>
              <a:srgbClr val="0C7FAA"/>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90000" bIns="90000"/>
          <a:lstStyle/>
          <a:p>
            <a:pPr algn="ctr">
              <a:spcAft>
                <a:spcPts val="100"/>
              </a:spcAft>
            </a:pPr>
            <a:r>
              <a:rPr sz="1000" b="1">
                <a:solidFill>
                  <a:srgbClr val="0C7FAA"/>
                </a:solidFill>
                <a:latin typeface="Arial"/>
              </a:rPr>
              <a:t>finding-writer</a:t>
            </a:r>
          </a:p>
          <a:p>
            <a:pPr algn="ctr">
              <a:spcAft>
                <a:spcPts val="100"/>
              </a:spcAft>
            </a:pPr>
            <a:r>
              <a:rPr sz="800" b="0">
                <a:solidFill>
                  <a:srgbClr val="8A99AD"/>
                </a:solidFill>
                <a:latin typeface="Arial"/>
              </a:rPr>
              <a:t>assembles finding,
cannot invent a figure</a:t>
            </a:r>
          </a:p>
        </p:txBody>
      </p:sp>
      <p:cxnSp>
        <p:nvCxnSpPr>
          <p:cNvPr id="90" name="Connector 89"/>
          <p:cNvCxnSpPr/>
          <p:nvPr/>
        </p:nvCxnSpPr>
        <p:spPr>
          <a:xfrm>
            <a:off x="6583000" y="3900000"/>
            <a:ext cx="160000" cy="0"/>
          </a:xfrm>
          <a:prstGeom prst="line">
            <a:avLst/>
          </a:prstGeom>
          <a:ln w="15875">
            <a:solidFill>
              <a:srgbClr val="0C7FAA"/>
            </a:solidFill>
            <a:tailEnd type="triangle" w="sm" len="sm"/>
          </a:ln>
        </p:spPr>
        <p:style>
          <a:lnRef idx="2">
            <a:schemeClr val="accent1"/>
          </a:lnRef>
          <a:fillRef idx="0">
            <a:schemeClr val="accent1"/>
          </a:fillRef>
          <a:effectRef idx="1">
            <a:schemeClr val="accent1"/>
          </a:effectRef>
          <a:fontRef idx="minor">
            <a:schemeClr val="tx1"/>
          </a:fontRef>
        </p:style>
      </p:cxnSp>
      <p:sp>
        <p:nvSpPr>
          <p:cNvPr id="91" name="Rounded Rectangle 90"/>
          <p:cNvSpPr/>
          <p:nvPr/>
        </p:nvSpPr>
        <p:spPr>
          <a:xfrm>
            <a:off x="6743000" y="3640000"/>
            <a:ext cx="1931000" cy="520000"/>
          </a:xfrm>
          <a:prstGeom prst="roundRect">
            <a:avLst>
              <a:gd name="adj" fmla="val 9000"/>
            </a:avLst>
          </a:prstGeom>
          <a:solidFill>
            <a:srgbClr val="FFFFFF"/>
          </a:solidFill>
          <a:ln w="9525">
            <a:solidFill>
              <a:srgbClr val="0C7FAA"/>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90000" bIns="90000"/>
          <a:lstStyle/>
          <a:p>
            <a:pPr algn="ctr">
              <a:spcAft>
                <a:spcPts val="100"/>
              </a:spcAft>
            </a:pPr>
            <a:r>
              <a:rPr sz="1000" b="1">
                <a:solidFill>
                  <a:srgbClr val="0C7FAA"/>
                </a:solidFill>
                <a:latin typeface="Arial"/>
              </a:rPr>
              <a:t>provenance-logger</a:t>
            </a:r>
          </a:p>
          <a:p>
            <a:pPr algn="ctr">
              <a:spcAft>
                <a:spcPts val="100"/>
              </a:spcAft>
            </a:pPr>
            <a:r>
              <a:rPr sz="800" b="0">
                <a:solidFill>
                  <a:srgbClr val="8A99AD"/>
                </a:solidFill>
                <a:latin typeface="Arial"/>
              </a:rPr>
              <a:t>append only,
content hashed</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 name="Shape 73"/>
        <p:cNvGrpSpPr/>
        <p:nvPr/>
      </p:nvGrpSpPr>
      <p:grpSpPr>
        <a:xfrm>
          <a:off x="0" y="0"/>
          <a:ext cx="0" cy="0"/>
          <a:chOff x="0" y="0"/>
          <a:chExt cx="0" cy="0"/>
        </a:xfrm>
      </p:grpSpPr>
      <p:pic>
        <p:nvPicPr>
          <p:cNvPr id="74" name="Google Shape;74;p16" title="Framewsxexexe 233.png"/>
          <p:cNvPicPr preferRelativeResize="0"/>
          <p:nvPr/>
        </p:nvPicPr>
        <p:blipFill rotWithShape="1">
          <a:blip r:embed="rId3">
            <a:alphaModFix/>
          </a:blip>
          <a:srcRect b="0" l="0" r="0" t="0"/>
          <a:stretch/>
        </p:blipFill>
        <p:spPr>
          <a:xfrm>
            <a:off x="0" y="0"/>
            <a:ext cx="9144018" cy="5143501"/>
          </a:xfrm>
          <a:prstGeom prst="rect">
            <a:avLst/>
          </a:prstGeom>
          <a:noFill/>
          <a:ln>
            <a:noFill/>
          </a:ln>
        </p:spPr>
      </p:pic>
      <p:sp>
        <p:nvSpPr>
          <p:cNvPr id="75" name="TextBox 74"/>
          <p:cNvSpPr txBox="1"/>
          <p:nvPr/>
        </p:nvSpPr>
        <p:spPr>
          <a:xfrm>
            <a:off x="470000" y="600000"/>
            <a:ext cx="8204000" cy="420000"/>
          </a:xfrm>
          <a:prstGeom prst="rect">
            <a:avLst/>
          </a:prstGeom>
          <a:noFill/>
        </p:spPr>
        <p:txBody>
          <a:bodyPr wrap="square" lIns="0" rIns="0" tIns="0" bIns="0">
            <a:spAutoFit/>
          </a:bodyPr>
          <a:lstStyle/>
          <a:p>
            <a:pPr algn="l">
              <a:spcAft>
                <a:spcPts val="0"/>
              </a:spcAft>
            </a:pPr>
            <a:r>
              <a:rPr sz="2500" b="1">
                <a:solidFill>
                  <a:srgbClr val="0F1829"/>
                </a:solidFill>
                <a:latin typeface="Arial"/>
              </a:rPr>
              <a:t>Measured, not asserted</a:t>
            </a:r>
          </a:p>
        </p:txBody>
      </p:sp>
      <p:sp>
        <p:nvSpPr>
          <p:cNvPr id="76" name="TextBox 75"/>
          <p:cNvSpPr txBox="1"/>
          <p:nvPr/>
        </p:nvSpPr>
        <p:spPr>
          <a:xfrm>
            <a:off x="470000" y="1030000"/>
            <a:ext cx="8204000" cy="260000"/>
          </a:xfrm>
          <a:prstGeom prst="rect">
            <a:avLst/>
          </a:prstGeom>
          <a:noFill/>
        </p:spPr>
        <p:txBody>
          <a:bodyPr wrap="square" lIns="0" rIns="0" tIns="0" bIns="0">
            <a:spAutoFit/>
          </a:bodyPr>
          <a:lstStyle/>
          <a:p>
            <a:pPr algn="l">
              <a:spcAft>
                <a:spcPts val="0"/>
              </a:spcAft>
            </a:pPr>
            <a:r>
              <a:rPr sz="1100" b="0">
                <a:solidFill>
                  <a:srgbClr val="8A99AD"/>
                </a:solidFill>
                <a:latin typeface="Arial"/>
              </a:rPr>
              <a:t>Governed against ungoverned. Same data, same model, full raw DDL, no hint of any governance rule.</a:t>
            </a:r>
          </a:p>
        </p:txBody>
      </p:sp>
      <p:sp>
        <p:nvSpPr>
          <p:cNvPr id="77" name="Rounded Rectangle 76"/>
          <p:cNvSpPr/>
          <p:nvPr/>
        </p:nvSpPr>
        <p:spPr>
          <a:xfrm>
            <a:off x="470000" y="1510000"/>
            <a:ext cx="8204000" cy="418120"/>
          </a:xfrm>
          <a:prstGeom prst="roundRect">
            <a:avLst>
              <a:gd name="adj" fmla="val 9000"/>
            </a:avLst>
          </a:prstGeom>
          <a:solidFill>
            <a:srgbClr val="FBECEC"/>
          </a:solidFill>
          <a:ln w="9525">
            <a:solidFill>
              <a:srgbClr val="E8C8C8"/>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90000" bIns="90000"/>
          <a:lstStyle/>
          <a:p>
            <a:pPr algn="l">
              <a:spcAft>
                <a:spcPts val="0"/>
              </a:spcAft>
            </a:pPr>
            <a:r>
              <a:rPr sz="1200" b="1">
                <a:solidFill>
                  <a:srgbClr val="B12B2B"/>
                </a:solidFill>
                <a:latin typeface="Arial"/>
              </a:rPr>
              <a:t>Our hypothesis was wrong. </a:t>
            </a:r>
            <a:r>
              <a:rPr sz="1200" b="0">
                <a:solidFill>
                  <a:srgbClr val="0F1829"/>
                </a:solidFill>
                <a:latin typeface="Arial"/>
              </a:rPr>
              <a:t>An ungoverned model is not inconsistent. Across 25 runs the SQL was byte identical. It is perfectly confident, and wrong on 2 of 5.</a:t>
            </a:r>
          </a:p>
        </p:txBody>
      </p:sp>
      <p:sp>
        <p:nvSpPr>
          <p:cNvPr id="78" name="TextBox 77"/>
          <p:cNvSpPr txBox="1"/>
          <p:nvPr/>
        </p:nvSpPr>
        <p:spPr>
          <a:xfrm>
            <a:off x="470000" y="2228120"/>
            <a:ext cx="4904000" cy="190000"/>
          </a:xfrm>
          <a:prstGeom prst="rect">
            <a:avLst/>
          </a:prstGeom>
          <a:noFill/>
        </p:spPr>
        <p:txBody>
          <a:bodyPr wrap="square" lIns="0" rIns="0" tIns="0" bIns="0">
            <a:spAutoFit/>
          </a:bodyPr>
          <a:lstStyle/>
          <a:p>
            <a:pPr algn="l">
              <a:spcAft>
                <a:spcPts val="0"/>
              </a:spcAft>
            </a:pPr>
            <a:r>
              <a:rPr sz="800" b="1">
                <a:solidFill>
                  <a:srgbClr val="8A99AD"/>
                </a:solidFill>
                <a:latin typeface="Arial"/>
              </a:rPr>
              <a:t>QUESTION</a:t>
            </a:r>
          </a:p>
        </p:txBody>
      </p:sp>
      <p:sp>
        <p:nvSpPr>
          <p:cNvPr id="79" name="TextBox 78"/>
          <p:cNvSpPr txBox="1"/>
          <p:nvPr/>
        </p:nvSpPr>
        <p:spPr>
          <a:xfrm>
            <a:off x="5374000" y="2228120"/>
            <a:ext cx="1200000" cy="190000"/>
          </a:xfrm>
          <a:prstGeom prst="rect">
            <a:avLst/>
          </a:prstGeom>
          <a:noFill/>
        </p:spPr>
        <p:txBody>
          <a:bodyPr wrap="square" lIns="0" rIns="0" tIns="0" bIns="0">
            <a:spAutoFit/>
          </a:bodyPr>
          <a:lstStyle/>
          <a:p>
            <a:pPr algn="r">
              <a:spcAft>
                <a:spcPts val="0"/>
              </a:spcAft>
            </a:pPr>
            <a:r>
              <a:rPr sz="800" b="1">
                <a:solidFill>
                  <a:srgbClr val="8A99AD"/>
                </a:solidFill>
                <a:latin typeface="Arial"/>
              </a:rPr>
              <a:t>UNGOVERNED</a:t>
            </a:r>
          </a:p>
        </p:txBody>
      </p:sp>
      <p:sp>
        <p:nvSpPr>
          <p:cNvPr id="80" name="TextBox 79"/>
          <p:cNvSpPr txBox="1"/>
          <p:nvPr/>
        </p:nvSpPr>
        <p:spPr>
          <a:xfrm>
            <a:off x="6574000" y="2228120"/>
            <a:ext cx="1200000" cy="190000"/>
          </a:xfrm>
          <a:prstGeom prst="rect">
            <a:avLst/>
          </a:prstGeom>
          <a:noFill/>
        </p:spPr>
        <p:txBody>
          <a:bodyPr wrap="square" lIns="0" rIns="0" tIns="0" bIns="0">
            <a:spAutoFit/>
          </a:bodyPr>
          <a:lstStyle/>
          <a:p>
            <a:pPr algn="r">
              <a:spcAft>
                <a:spcPts val="0"/>
              </a:spcAft>
            </a:pPr>
            <a:r>
              <a:rPr sz="800" b="1">
                <a:solidFill>
                  <a:srgbClr val="8A99AD"/>
                </a:solidFill>
                <a:latin typeface="Arial"/>
              </a:rPr>
              <a:t>GOVERNED</a:t>
            </a:r>
          </a:p>
        </p:txBody>
      </p:sp>
      <p:sp>
        <p:nvSpPr>
          <p:cNvPr id="81" name="TextBox 80"/>
          <p:cNvSpPr txBox="1"/>
          <p:nvPr/>
        </p:nvSpPr>
        <p:spPr>
          <a:xfrm>
            <a:off x="7774000" y="2228120"/>
            <a:ext cx="900000" cy="190000"/>
          </a:xfrm>
          <a:prstGeom prst="rect">
            <a:avLst/>
          </a:prstGeom>
          <a:noFill/>
        </p:spPr>
        <p:txBody>
          <a:bodyPr wrap="square" lIns="0" rIns="0" tIns="0" bIns="0">
            <a:spAutoFit/>
          </a:bodyPr>
          <a:lstStyle/>
          <a:p>
            <a:pPr algn="r">
              <a:spcAft>
                <a:spcPts val="0"/>
              </a:spcAft>
            </a:pPr>
            <a:r>
              <a:rPr sz="800" b="1">
                <a:solidFill>
                  <a:srgbClr val="8A99AD"/>
                </a:solidFill>
                <a:latin typeface="Arial"/>
              </a:rPr>
              <a:t/>
            </a:r>
          </a:p>
        </p:txBody>
      </p:sp>
      <p:sp>
        <p:nvSpPr>
          <p:cNvPr id="82" name="Rectangle 81"/>
          <p:cNvSpPr/>
          <p:nvPr/>
        </p:nvSpPr>
        <p:spPr>
          <a:xfrm>
            <a:off x="470000" y="2458120"/>
            <a:ext cx="8204000" cy="9000"/>
          </a:xfrm>
          <a:prstGeom prst="rect">
            <a:avLst/>
          </a:prstGeom>
          <a:solidFill>
            <a:srgbClr val="D8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470000" y="2528120"/>
            <a:ext cx="4904000" cy="240000"/>
          </a:xfrm>
          <a:prstGeom prst="rect">
            <a:avLst/>
          </a:prstGeom>
          <a:noFill/>
        </p:spPr>
        <p:txBody>
          <a:bodyPr wrap="square" lIns="0" rIns="0" tIns="0" bIns="0">
            <a:spAutoFit/>
          </a:bodyPr>
          <a:lstStyle/>
          <a:p>
            <a:pPr algn="l">
              <a:spcAft>
                <a:spcPts val="0"/>
              </a:spcAft>
            </a:pPr>
            <a:r>
              <a:rPr sz="1100" b="0">
                <a:solidFill>
                  <a:srgbClr val="0F1829"/>
                </a:solidFill>
                <a:latin typeface="Arial"/>
              </a:rPr>
              <a:t>Suspicious volume, Q3 2026</a:t>
            </a:r>
          </a:p>
        </p:txBody>
      </p:sp>
      <p:sp>
        <p:nvSpPr>
          <p:cNvPr id="84" name="TextBox 83"/>
          <p:cNvSpPr txBox="1"/>
          <p:nvPr/>
        </p:nvSpPr>
        <p:spPr>
          <a:xfrm>
            <a:off x="5374000" y="2528120"/>
            <a:ext cx="1200000" cy="240000"/>
          </a:xfrm>
          <a:prstGeom prst="rect">
            <a:avLst/>
          </a:prstGeom>
          <a:noFill/>
        </p:spPr>
        <p:txBody>
          <a:bodyPr wrap="square" lIns="0" rIns="0" tIns="0" bIns="0">
            <a:spAutoFit/>
          </a:bodyPr>
          <a:lstStyle/>
          <a:p>
            <a:pPr algn="r">
              <a:spcAft>
                <a:spcPts val="0"/>
              </a:spcAft>
            </a:pPr>
            <a:r>
              <a:rPr sz="1100" b="0">
                <a:solidFill>
                  <a:srgbClr val="0F1829"/>
                </a:solidFill>
                <a:latin typeface="Arial"/>
              </a:rPr>
              <a:t>8,797,923</a:t>
            </a:r>
          </a:p>
        </p:txBody>
      </p:sp>
      <p:sp>
        <p:nvSpPr>
          <p:cNvPr id="85" name="TextBox 84"/>
          <p:cNvSpPr txBox="1"/>
          <p:nvPr/>
        </p:nvSpPr>
        <p:spPr>
          <a:xfrm>
            <a:off x="6574000" y="2528120"/>
            <a:ext cx="1200000" cy="240000"/>
          </a:xfrm>
          <a:prstGeom prst="rect">
            <a:avLst/>
          </a:prstGeom>
          <a:noFill/>
        </p:spPr>
        <p:txBody>
          <a:bodyPr wrap="square" lIns="0" rIns="0" tIns="0" bIns="0">
            <a:spAutoFit/>
          </a:bodyPr>
          <a:lstStyle/>
          <a:p>
            <a:pPr algn="r">
              <a:spcAft>
                <a:spcPts val="0"/>
              </a:spcAft>
            </a:pPr>
            <a:r>
              <a:rPr sz="1100" b="0">
                <a:solidFill>
                  <a:srgbClr val="0F1829"/>
                </a:solidFill>
                <a:latin typeface="Arial"/>
              </a:rPr>
              <a:t>4,295,229</a:t>
            </a:r>
          </a:p>
        </p:txBody>
      </p:sp>
      <p:sp>
        <p:nvSpPr>
          <p:cNvPr id="86" name="TextBox 85"/>
          <p:cNvSpPr txBox="1"/>
          <p:nvPr/>
        </p:nvSpPr>
        <p:spPr>
          <a:xfrm>
            <a:off x="7774000" y="2528120"/>
            <a:ext cx="900000" cy="240000"/>
          </a:xfrm>
          <a:prstGeom prst="rect">
            <a:avLst/>
          </a:prstGeom>
          <a:noFill/>
        </p:spPr>
        <p:txBody>
          <a:bodyPr wrap="square" lIns="0" rIns="0" tIns="0" bIns="0">
            <a:spAutoFit/>
          </a:bodyPr>
          <a:lstStyle/>
          <a:p>
            <a:pPr algn="r">
              <a:spcAft>
                <a:spcPts val="0"/>
              </a:spcAft>
            </a:pPr>
            <a:r>
              <a:rPr sz="1100" b="1">
                <a:solidFill>
                  <a:srgbClr val="B12B2B"/>
                </a:solidFill>
                <a:latin typeface="Arial"/>
              </a:rPr>
              <a:t>+105%</a:t>
            </a:r>
          </a:p>
        </p:txBody>
      </p:sp>
      <p:sp>
        <p:nvSpPr>
          <p:cNvPr id="87" name="TextBox 86"/>
          <p:cNvSpPr txBox="1"/>
          <p:nvPr/>
        </p:nvSpPr>
        <p:spPr>
          <a:xfrm>
            <a:off x="470000" y="2813120"/>
            <a:ext cx="4904000" cy="240000"/>
          </a:xfrm>
          <a:prstGeom prst="rect">
            <a:avLst/>
          </a:prstGeom>
          <a:noFill/>
        </p:spPr>
        <p:txBody>
          <a:bodyPr wrap="square" lIns="0" rIns="0" tIns="0" bIns="0">
            <a:spAutoFit/>
          </a:bodyPr>
          <a:lstStyle/>
          <a:p>
            <a:pPr algn="l">
              <a:spcAft>
                <a:spcPts val="0"/>
              </a:spcAft>
            </a:pPr>
            <a:r>
              <a:rPr sz="1100" b="0">
                <a:solidFill>
                  <a:srgbClr val="0F1829"/>
                </a:solidFill>
                <a:latin typeface="Arial"/>
              </a:rPr>
              <a:t>Exposure to CP-STRUCT-01</a:t>
            </a:r>
          </a:p>
        </p:txBody>
      </p:sp>
      <p:sp>
        <p:nvSpPr>
          <p:cNvPr id="88" name="TextBox 87"/>
          <p:cNvSpPr txBox="1"/>
          <p:nvPr/>
        </p:nvSpPr>
        <p:spPr>
          <a:xfrm>
            <a:off x="5374000" y="2813120"/>
            <a:ext cx="1200000" cy="240000"/>
          </a:xfrm>
          <a:prstGeom prst="rect">
            <a:avLst/>
          </a:prstGeom>
          <a:noFill/>
        </p:spPr>
        <p:txBody>
          <a:bodyPr wrap="square" lIns="0" rIns="0" tIns="0" bIns="0">
            <a:spAutoFit/>
          </a:bodyPr>
          <a:lstStyle/>
          <a:p>
            <a:pPr algn="r">
              <a:spcAft>
                <a:spcPts val="0"/>
              </a:spcAft>
            </a:pPr>
            <a:r>
              <a:rPr sz="1100" b="0">
                <a:solidFill>
                  <a:srgbClr val="0F1829"/>
                </a:solidFill>
                <a:latin typeface="Arial"/>
              </a:rPr>
              <a:t>87,185</a:t>
            </a:r>
          </a:p>
        </p:txBody>
      </p:sp>
      <p:sp>
        <p:nvSpPr>
          <p:cNvPr id="89" name="TextBox 88"/>
          <p:cNvSpPr txBox="1"/>
          <p:nvPr/>
        </p:nvSpPr>
        <p:spPr>
          <a:xfrm>
            <a:off x="6574000" y="2813120"/>
            <a:ext cx="1200000" cy="240000"/>
          </a:xfrm>
          <a:prstGeom prst="rect">
            <a:avLst/>
          </a:prstGeom>
          <a:noFill/>
        </p:spPr>
        <p:txBody>
          <a:bodyPr wrap="square" lIns="0" rIns="0" tIns="0" bIns="0">
            <a:spAutoFit/>
          </a:bodyPr>
          <a:lstStyle/>
          <a:p>
            <a:pPr algn="r">
              <a:spcAft>
                <a:spcPts val="0"/>
              </a:spcAft>
            </a:pPr>
            <a:r>
              <a:rPr sz="1100" b="0">
                <a:solidFill>
                  <a:srgbClr val="0F1829"/>
                </a:solidFill>
                <a:latin typeface="Arial"/>
              </a:rPr>
              <a:t>87,185</a:t>
            </a:r>
          </a:p>
        </p:txBody>
      </p:sp>
      <p:sp>
        <p:nvSpPr>
          <p:cNvPr id="90" name="TextBox 89"/>
          <p:cNvSpPr txBox="1"/>
          <p:nvPr/>
        </p:nvSpPr>
        <p:spPr>
          <a:xfrm>
            <a:off x="7774000" y="2813120"/>
            <a:ext cx="900000" cy="240000"/>
          </a:xfrm>
          <a:prstGeom prst="rect">
            <a:avLst/>
          </a:prstGeom>
          <a:noFill/>
        </p:spPr>
        <p:txBody>
          <a:bodyPr wrap="square" lIns="0" rIns="0" tIns="0" bIns="0">
            <a:spAutoFit/>
          </a:bodyPr>
          <a:lstStyle/>
          <a:p>
            <a:pPr algn="r">
              <a:spcAft>
                <a:spcPts val="0"/>
              </a:spcAft>
            </a:pPr>
            <a:r>
              <a:rPr sz="1100" b="0">
                <a:solidFill>
                  <a:srgbClr val="8A99AD"/>
                </a:solidFill>
                <a:latin typeface="Arial"/>
              </a:rPr>
              <a:t>agree</a:t>
            </a:r>
          </a:p>
        </p:txBody>
      </p:sp>
      <p:sp>
        <p:nvSpPr>
          <p:cNvPr id="91" name="TextBox 90"/>
          <p:cNvSpPr txBox="1"/>
          <p:nvPr/>
        </p:nvSpPr>
        <p:spPr>
          <a:xfrm>
            <a:off x="470000" y="3098120"/>
            <a:ext cx="4904000" cy="240000"/>
          </a:xfrm>
          <a:prstGeom prst="rect">
            <a:avLst/>
          </a:prstGeom>
          <a:noFill/>
        </p:spPr>
        <p:txBody>
          <a:bodyPr wrap="square" lIns="0" rIns="0" tIns="0" bIns="0">
            <a:spAutoFit/>
          </a:bodyPr>
          <a:lstStyle/>
          <a:p>
            <a:pPr algn="l">
              <a:spcAft>
                <a:spcPts val="0"/>
              </a:spcAft>
            </a:pPr>
            <a:r>
              <a:rPr sz="1100" b="0">
                <a:solidFill>
                  <a:srgbClr val="0F1829"/>
                </a:solidFill>
                <a:latin typeface="Arial"/>
              </a:rPr>
              <a:t>Alert closure rate, 2026</a:t>
            </a:r>
          </a:p>
        </p:txBody>
      </p:sp>
      <p:sp>
        <p:nvSpPr>
          <p:cNvPr id="92" name="TextBox 91"/>
          <p:cNvSpPr txBox="1"/>
          <p:nvPr/>
        </p:nvSpPr>
        <p:spPr>
          <a:xfrm>
            <a:off x="5374000" y="3098120"/>
            <a:ext cx="1200000" cy="240000"/>
          </a:xfrm>
          <a:prstGeom prst="rect">
            <a:avLst/>
          </a:prstGeom>
          <a:noFill/>
        </p:spPr>
        <p:txBody>
          <a:bodyPr wrap="square" lIns="0" rIns="0" tIns="0" bIns="0">
            <a:spAutoFit/>
          </a:bodyPr>
          <a:lstStyle/>
          <a:p>
            <a:pPr algn="r">
              <a:spcAft>
                <a:spcPts val="0"/>
              </a:spcAft>
            </a:pPr>
            <a:r>
              <a:rPr sz="1100" b="0">
                <a:solidFill>
                  <a:srgbClr val="0F1829"/>
                </a:solidFill>
                <a:latin typeface="Arial"/>
              </a:rPr>
              <a:t>63.6%</a:t>
            </a:r>
          </a:p>
        </p:txBody>
      </p:sp>
      <p:sp>
        <p:nvSpPr>
          <p:cNvPr id="93" name="TextBox 92"/>
          <p:cNvSpPr txBox="1"/>
          <p:nvPr/>
        </p:nvSpPr>
        <p:spPr>
          <a:xfrm>
            <a:off x="6574000" y="3098120"/>
            <a:ext cx="1200000" cy="240000"/>
          </a:xfrm>
          <a:prstGeom prst="rect">
            <a:avLst/>
          </a:prstGeom>
          <a:noFill/>
        </p:spPr>
        <p:txBody>
          <a:bodyPr wrap="square" lIns="0" rIns="0" tIns="0" bIns="0">
            <a:spAutoFit/>
          </a:bodyPr>
          <a:lstStyle/>
          <a:p>
            <a:pPr algn="r">
              <a:spcAft>
                <a:spcPts val="0"/>
              </a:spcAft>
            </a:pPr>
            <a:r>
              <a:rPr sz="1100" b="0">
                <a:solidFill>
                  <a:srgbClr val="0F1829"/>
                </a:solidFill>
                <a:latin typeface="Arial"/>
              </a:rPr>
              <a:t>63.6%</a:t>
            </a:r>
          </a:p>
        </p:txBody>
      </p:sp>
      <p:sp>
        <p:nvSpPr>
          <p:cNvPr id="94" name="TextBox 93"/>
          <p:cNvSpPr txBox="1"/>
          <p:nvPr/>
        </p:nvSpPr>
        <p:spPr>
          <a:xfrm>
            <a:off x="7774000" y="3098120"/>
            <a:ext cx="900000" cy="240000"/>
          </a:xfrm>
          <a:prstGeom prst="rect">
            <a:avLst/>
          </a:prstGeom>
          <a:noFill/>
        </p:spPr>
        <p:txBody>
          <a:bodyPr wrap="square" lIns="0" rIns="0" tIns="0" bIns="0">
            <a:spAutoFit/>
          </a:bodyPr>
          <a:lstStyle/>
          <a:p>
            <a:pPr algn="r">
              <a:spcAft>
                <a:spcPts val="0"/>
              </a:spcAft>
            </a:pPr>
            <a:r>
              <a:rPr sz="1100" b="0">
                <a:solidFill>
                  <a:srgbClr val="8A99AD"/>
                </a:solidFill>
                <a:latin typeface="Arial"/>
              </a:rPr>
              <a:t>agree</a:t>
            </a:r>
          </a:p>
        </p:txBody>
      </p:sp>
      <p:sp>
        <p:nvSpPr>
          <p:cNvPr id="95" name="TextBox 94"/>
          <p:cNvSpPr txBox="1"/>
          <p:nvPr/>
        </p:nvSpPr>
        <p:spPr>
          <a:xfrm>
            <a:off x="470000" y="3383120"/>
            <a:ext cx="4904000" cy="240000"/>
          </a:xfrm>
          <a:prstGeom prst="rect">
            <a:avLst/>
          </a:prstGeom>
          <a:noFill/>
        </p:spPr>
        <p:txBody>
          <a:bodyPr wrap="square" lIns="0" rIns="0" tIns="0" bIns="0">
            <a:spAutoFit/>
          </a:bodyPr>
          <a:lstStyle/>
          <a:p>
            <a:pPr algn="l">
              <a:spcAft>
                <a:spcPts val="0"/>
              </a:spcAft>
            </a:pPr>
            <a:r>
              <a:rPr sz="1100" b="0">
                <a:solidFill>
                  <a:srgbClr val="0F1829"/>
                </a:solidFill>
                <a:latin typeface="Arial"/>
              </a:rPr>
              <a:t>SAR filing share</a:t>
            </a:r>
          </a:p>
        </p:txBody>
      </p:sp>
      <p:sp>
        <p:nvSpPr>
          <p:cNvPr id="96" name="TextBox 95"/>
          <p:cNvSpPr txBox="1"/>
          <p:nvPr/>
        </p:nvSpPr>
        <p:spPr>
          <a:xfrm>
            <a:off x="5374000" y="3383120"/>
            <a:ext cx="1200000" cy="240000"/>
          </a:xfrm>
          <a:prstGeom prst="rect">
            <a:avLst/>
          </a:prstGeom>
          <a:noFill/>
        </p:spPr>
        <p:txBody>
          <a:bodyPr wrap="square" lIns="0" rIns="0" tIns="0" bIns="0">
            <a:spAutoFit/>
          </a:bodyPr>
          <a:lstStyle/>
          <a:p>
            <a:pPr algn="r">
              <a:spcAft>
                <a:spcPts val="0"/>
              </a:spcAft>
            </a:pPr>
            <a:r>
              <a:rPr sz="1100" b="0">
                <a:solidFill>
                  <a:srgbClr val="0F1829"/>
                </a:solidFill>
                <a:latin typeface="Arial"/>
              </a:rPr>
              <a:t>6.5%</a:t>
            </a:r>
          </a:p>
        </p:txBody>
      </p:sp>
      <p:sp>
        <p:nvSpPr>
          <p:cNvPr id="97" name="TextBox 96"/>
          <p:cNvSpPr txBox="1"/>
          <p:nvPr/>
        </p:nvSpPr>
        <p:spPr>
          <a:xfrm>
            <a:off x="6574000" y="3383120"/>
            <a:ext cx="1200000" cy="240000"/>
          </a:xfrm>
          <a:prstGeom prst="rect">
            <a:avLst/>
          </a:prstGeom>
          <a:noFill/>
        </p:spPr>
        <p:txBody>
          <a:bodyPr wrap="square" lIns="0" rIns="0" tIns="0" bIns="0">
            <a:spAutoFit/>
          </a:bodyPr>
          <a:lstStyle/>
          <a:p>
            <a:pPr algn="r">
              <a:spcAft>
                <a:spcPts val="0"/>
              </a:spcAft>
            </a:pPr>
            <a:r>
              <a:rPr sz="1100" b="0">
                <a:solidFill>
                  <a:srgbClr val="0F1829"/>
                </a:solidFill>
                <a:latin typeface="Arial"/>
              </a:rPr>
              <a:t>6.5%</a:t>
            </a:r>
          </a:p>
        </p:txBody>
      </p:sp>
      <p:sp>
        <p:nvSpPr>
          <p:cNvPr id="98" name="TextBox 97"/>
          <p:cNvSpPr txBox="1"/>
          <p:nvPr/>
        </p:nvSpPr>
        <p:spPr>
          <a:xfrm>
            <a:off x="7774000" y="3383120"/>
            <a:ext cx="900000" cy="240000"/>
          </a:xfrm>
          <a:prstGeom prst="rect">
            <a:avLst/>
          </a:prstGeom>
          <a:noFill/>
        </p:spPr>
        <p:txBody>
          <a:bodyPr wrap="square" lIns="0" rIns="0" tIns="0" bIns="0">
            <a:spAutoFit/>
          </a:bodyPr>
          <a:lstStyle/>
          <a:p>
            <a:pPr algn="r">
              <a:spcAft>
                <a:spcPts val="0"/>
              </a:spcAft>
            </a:pPr>
            <a:r>
              <a:rPr sz="1100" b="0">
                <a:solidFill>
                  <a:srgbClr val="8A99AD"/>
                </a:solidFill>
                <a:latin typeface="Arial"/>
              </a:rPr>
              <a:t>agree</a:t>
            </a:r>
          </a:p>
        </p:txBody>
      </p:sp>
      <p:sp>
        <p:nvSpPr>
          <p:cNvPr id="99" name="TextBox 98"/>
          <p:cNvSpPr txBox="1"/>
          <p:nvPr/>
        </p:nvSpPr>
        <p:spPr>
          <a:xfrm>
            <a:off x="470000" y="3668120"/>
            <a:ext cx="4904000" cy="240000"/>
          </a:xfrm>
          <a:prstGeom prst="rect">
            <a:avLst/>
          </a:prstGeom>
          <a:noFill/>
        </p:spPr>
        <p:txBody>
          <a:bodyPr wrap="square" lIns="0" rIns="0" tIns="0" bIns="0">
            <a:spAutoFit/>
          </a:bodyPr>
          <a:lstStyle/>
          <a:p>
            <a:pPr algn="l">
              <a:spcAft>
                <a:spcPts val="0"/>
              </a:spcAft>
            </a:pPr>
            <a:r>
              <a:rPr sz="1100" b="0">
                <a:solidFill>
                  <a:srgbClr val="0F1829"/>
                </a:solidFill>
                <a:latin typeface="Arial"/>
              </a:rPr>
              <a:t>High risk counterparties, Singapore</a:t>
            </a:r>
          </a:p>
        </p:txBody>
      </p:sp>
      <p:sp>
        <p:nvSpPr>
          <p:cNvPr id="100" name="TextBox 99"/>
          <p:cNvSpPr txBox="1"/>
          <p:nvPr/>
        </p:nvSpPr>
        <p:spPr>
          <a:xfrm>
            <a:off x="5374000" y="3668120"/>
            <a:ext cx="1200000" cy="240000"/>
          </a:xfrm>
          <a:prstGeom prst="rect">
            <a:avLst/>
          </a:prstGeom>
          <a:noFill/>
        </p:spPr>
        <p:txBody>
          <a:bodyPr wrap="square" lIns="0" rIns="0" tIns="0" bIns="0">
            <a:spAutoFit/>
          </a:bodyPr>
          <a:lstStyle/>
          <a:p>
            <a:pPr algn="r">
              <a:spcAft>
                <a:spcPts val="0"/>
              </a:spcAft>
            </a:pPr>
            <a:r>
              <a:rPr sz="1100" b="0">
                <a:solidFill>
                  <a:srgbClr val="0F1829"/>
                </a:solidFill>
                <a:latin typeface="Arial"/>
              </a:rPr>
              <a:t>23</a:t>
            </a:r>
          </a:p>
        </p:txBody>
      </p:sp>
      <p:sp>
        <p:nvSpPr>
          <p:cNvPr id="101" name="TextBox 100"/>
          <p:cNvSpPr txBox="1"/>
          <p:nvPr/>
        </p:nvSpPr>
        <p:spPr>
          <a:xfrm>
            <a:off x="6574000" y="3668120"/>
            <a:ext cx="1200000" cy="240000"/>
          </a:xfrm>
          <a:prstGeom prst="rect">
            <a:avLst/>
          </a:prstGeom>
          <a:noFill/>
        </p:spPr>
        <p:txBody>
          <a:bodyPr wrap="square" lIns="0" rIns="0" tIns="0" bIns="0">
            <a:spAutoFit/>
          </a:bodyPr>
          <a:lstStyle/>
          <a:p>
            <a:pPr algn="r">
              <a:spcAft>
                <a:spcPts val="0"/>
              </a:spcAft>
            </a:pPr>
            <a:r>
              <a:rPr sz="1100" b="0">
                <a:solidFill>
                  <a:srgbClr val="0F1829"/>
                </a:solidFill>
                <a:latin typeface="Arial"/>
              </a:rPr>
              <a:t>36</a:t>
            </a:r>
          </a:p>
        </p:txBody>
      </p:sp>
      <p:sp>
        <p:nvSpPr>
          <p:cNvPr id="102" name="TextBox 101"/>
          <p:cNvSpPr txBox="1"/>
          <p:nvPr/>
        </p:nvSpPr>
        <p:spPr>
          <a:xfrm>
            <a:off x="7774000" y="3668120"/>
            <a:ext cx="900000" cy="240000"/>
          </a:xfrm>
          <a:prstGeom prst="rect">
            <a:avLst/>
          </a:prstGeom>
          <a:noFill/>
        </p:spPr>
        <p:txBody>
          <a:bodyPr wrap="square" lIns="0" rIns="0" tIns="0" bIns="0">
            <a:spAutoFit/>
          </a:bodyPr>
          <a:lstStyle/>
          <a:p>
            <a:pPr algn="r">
              <a:spcAft>
                <a:spcPts val="0"/>
              </a:spcAft>
            </a:pPr>
            <a:r>
              <a:rPr sz="1100" b="1">
                <a:solidFill>
                  <a:srgbClr val="B12B2B"/>
                </a:solidFill>
                <a:latin typeface="Arial"/>
              </a:rPr>
              <a:t>-36%</a:t>
            </a:r>
          </a:p>
        </p:txBody>
      </p:sp>
      <p:sp>
        <p:nvSpPr>
          <p:cNvPr id="103" name="TextBox 102"/>
          <p:cNvSpPr txBox="1"/>
          <p:nvPr/>
        </p:nvSpPr>
        <p:spPr>
          <a:xfrm>
            <a:off x="470000" y="4043120"/>
            <a:ext cx="8204000" cy="490200"/>
          </a:xfrm>
          <a:prstGeom prst="rect">
            <a:avLst/>
          </a:prstGeom>
          <a:noFill/>
        </p:spPr>
        <p:txBody>
          <a:bodyPr wrap="square" lIns="0" rIns="0" tIns="0" bIns="0">
            <a:spAutoFit/>
          </a:bodyPr>
          <a:lstStyle/>
          <a:p>
            <a:pPr algn="l">
              <a:lnSpc>
                <a:spcPct val="120000"/>
              </a:lnSpc>
              <a:spcAft>
                <a:spcPts val="0"/>
              </a:spcAft>
            </a:pPr>
            <a:r>
              <a:rPr sz="1000" b="0">
                <a:solidFill>
                  <a:srgbClr val="465770"/>
                </a:solidFill>
                <a:latin typeface="Arial"/>
              </a:rPr>
              <a:t>The $4.5M overstatement comes from four missed decisions at once: booking date rather than value date, reversals counted, unsettled counted, and transactions on already closed alerts treated as suspicious. Exposure agrees only by coincidence, because that counterparty has no beneficial ownership links.</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pic>
        <p:nvPicPr>
          <p:cNvPr id="79" name="Google Shape;79;p17" title="Framewsxexexe 233.png"/>
          <p:cNvPicPr preferRelativeResize="0"/>
          <p:nvPr/>
        </p:nvPicPr>
        <p:blipFill rotWithShape="1">
          <a:blip r:embed="rId3">
            <a:alphaModFix/>
          </a:blip>
          <a:srcRect b="0" l="0" r="0" t="0"/>
          <a:stretch/>
        </p:blipFill>
        <p:spPr>
          <a:xfrm>
            <a:off x="0" y="0"/>
            <a:ext cx="9144018" cy="5143501"/>
          </a:xfrm>
          <a:prstGeom prst="rect">
            <a:avLst/>
          </a:prstGeom>
          <a:noFill/>
          <a:ln>
            <a:noFill/>
          </a:ln>
        </p:spPr>
      </p:pic>
      <p:sp>
        <p:nvSpPr>
          <p:cNvPr id="80" name="TextBox 79"/>
          <p:cNvSpPr txBox="1"/>
          <p:nvPr/>
        </p:nvSpPr>
        <p:spPr>
          <a:xfrm>
            <a:off x="470000" y="600000"/>
            <a:ext cx="8204000" cy="420000"/>
          </a:xfrm>
          <a:prstGeom prst="rect">
            <a:avLst/>
          </a:prstGeom>
          <a:noFill/>
        </p:spPr>
        <p:txBody>
          <a:bodyPr wrap="square" lIns="0" rIns="0" tIns="0" bIns="0">
            <a:spAutoFit/>
          </a:bodyPr>
          <a:lstStyle/>
          <a:p>
            <a:pPr algn="l">
              <a:spcAft>
                <a:spcPts val="0"/>
              </a:spcAft>
            </a:pPr>
            <a:r>
              <a:rPr sz="2500" b="1">
                <a:solidFill>
                  <a:srgbClr val="0F1829"/>
                </a:solidFill>
                <a:latin typeface="Arial"/>
              </a:rPr>
              <a:t>Measured outcomes</a:t>
            </a:r>
          </a:p>
        </p:txBody>
      </p:sp>
      <p:sp>
        <p:nvSpPr>
          <p:cNvPr id="81" name="TextBox 80"/>
          <p:cNvSpPr txBox="1"/>
          <p:nvPr/>
        </p:nvSpPr>
        <p:spPr>
          <a:xfrm>
            <a:off x="470000" y="1030000"/>
            <a:ext cx="8204000" cy="260000"/>
          </a:xfrm>
          <a:prstGeom prst="rect">
            <a:avLst/>
          </a:prstGeom>
          <a:noFill/>
        </p:spPr>
        <p:txBody>
          <a:bodyPr wrap="square" lIns="0" rIns="0" tIns="0" bIns="0">
            <a:spAutoFit/>
          </a:bodyPr>
          <a:lstStyle/>
          <a:p>
            <a:pPr algn="l">
              <a:spcAft>
                <a:spcPts val="0"/>
              </a:spcAft>
            </a:pPr>
            <a:r>
              <a:rPr sz="1100" b="0">
                <a:solidFill>
                  <a:srgbClr val="8A99AD"/>
                </a:solidFill>
                <a:latin typeface="Arial"/>
              </a:rPr>
              <a:t>Scored against an answer key that was never loaded into Snowflake.</a:t>
            </a:r>
          </a:p>
        </p:txBody>
      </p:sp>
      <p:sp>
        <p:nvSpPr>
          <p:cNvPr id="82" name="Rounded Rectangle 81"/>
          <p:cNvSpPr/>
          <p:nvPr/>
        </p:nvSpPr>
        <p:spPr>
          <a:xfrm>
            <a:off x="470000" y="1510000"/>
            <a:ext cx="1916000" cy="680000"/>
          </a:xfrm>
          <a:prstGeom prst="roundRect">
            <a:avLst>
              <a:gd name="adj" fmla="val 9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90000" bIns="90000"/>
          <a:lstStyle/>
          <a:p>
            <a:pPr algn="ctr">
              <a:spcAft>
                <a:spcPts val="200"/>
              </a:spcAft>
            </a:pPr>
            <a:r>
              <a:rPr sz="2100" b="1">
                <a:solidFill>
                  <a:srgbClr val="0C7FAA"/>
                </a:solidFill>
                <a:latin typeface="Arial"/>
              </a:rPr>
              <a:t>0.944</a:t>
            </a:r>
          </a:p>
          <a:p>
            <a:pPr algn="ctr">
              <a:spcAft>
                <a:spcPts val="200"/>
              </a:spcAft>
            </a:pPr>
            <a:r>
              <a:rPr sz="850" b="0">
                <a:solidFill>
                  <a:srgbClr val="8A99AD"/>
                </a:solidFill>
                <a:latin typeface="Arial"/>
              </a:rPr>
              <a:t>detection recall</a:t>
            </a:r>
          </a:p>
        </p:txBody>
      </p:sp>
      <p:sp>
        <p:nvSpPr>
          <p:cNvPr id="83" name="Rounded Rectangle 82"/>
          <p:cNvSpPr/>
          <p:nvPr/>
        </p:nvSpPr>
        <p:spPr>
          <a:xfrm>
            <a:off x="2566000" y="1510000"/>
            <a:ext cx="1916000" cy="680000"/>
          </a:xfrm>
          <a:prstGeom prst="roundRect">
            <a:avLst>
              <a:gd name="adj" fmla="val 9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90000" bIns="90000"/>
          <a:lstStyle/>
          <a:p>
            <a:pPr algn="ctr">
              <a:spcAft>
                <a:spcPts val="200"/>
              </a:spcAft>
            </a:pPr>
            <a:r>
              <a:rPr sz="2100" b="1">
                <a:solidFill>
                  <a:srgbClr val="0C7FAA"/>
                </a:solidFill>
                <a:latin typeface="Arial"/>
              </a:rPr>
              <a:t>5 of 6</a:t>
            </a:r>
          </a:p>
          <a:p>
            <a:pPr algn="ctr">
              <a:spcAft>
                <a:spcPts val="200"/>
              </a:spcAft>
            </a:pPr>
            <a:r>
              <a:rPr sz="850" b="0">
                <a:solidFill>
                  <a:srgbClr val="8A99AD"/>
                </a:solidFill>
                <a:latin typeface="Arial"/>
              </a:rPr>
              <a:t>typologies at F1 1.000</a:t>
            </a:r>
          </a:p>
        </p:txBody>
      </p:sp>
      <p:sp>
        <p:nvSpPr>
          <p:cNvPr id="84" name="Rounded Rectangle 83"/>
          <p:cNvSpPr/>
          <p:nvPr/>
        </p:nvSpPr>
        <p:spPr>
          <a:xfrm>
            <a:off x="4662000" y="1510000"/>
            <a:ext cx="1916000" cy="680000"/>
          </a:xfrm>
          <a:prstGeom prst="roundRect">
            <a:avLst>
              <a:gd name="adj" fmla="val 9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90000" bIns="90000"/>
          <a:lstStyle/>
          <a:p>
            <a:pPr algn="ctr">
              <a:spcAft>
                <a:spcPts val="200"/>
              </a:spcAft>
            </a:pPr>
            <a:r>
              <a:rPr sz="2100" b="1">
                <a:solidFill>
                  <a:srgbClr val="0C7FAA"/>
                </a:solidFill>
                <a:latin typeface="Arial"/>
              </a:rPr>
              <a:t>11 / 12</a:t>
            </a:r>
          </a:p>
          <a:p>
            <a:pPr algn="ctr">
              <a:spcAft>
                <a:spcPts val="200"/>
              </a:spcAft>
            </a:pPr>
            <a:r>
              <a:rPr sz="850" b="0">
                <a:solidFill>
                  <a:srgbClr val="8A99AD"/>
                </a:solidFill>
                <a:latin typeface="Arial"/>
              </a:rPr>
              <a:t>clause retrieval, top-1</a:t>
            </a:r>
          </a:p>
        </p:txBody>
      </p:sp>
      <p:sp>
        <p:nvSpPr>
          <p:cNvPr id="85" name="Rounded Rectangle 84"/>
          <p:cNvSpPr/>
          <p:nvPr/>
        </p:nvSpPr>
        <p:spPr>
          <a:xfrm>
            <a:off x="6758000" y="1510000"/>
            <a:ext cx="1916000" cy="680000"/>
          </a:xfrm>
          <a:prstGeom prst="roundRect">
            <a:avLst>
              <a:gd name="adj" fmla="val 9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90000" bIns="90000"/>
          <a:lstStyle/>
          <a:p>
            <a:pPr algn="ctr">
              <a:spcAft>
                <a:spcPts val="200"/>
              </a:spcAft>
            </a:pPr>
            <a:r>
              <a:rPr sz="2100" b="1">
                <a:solidFill>
                  <a:srgbClr val="0C7FAA"/>
                </a:solidFill>
                <a:latin typeface="Arial"/>
              </a:rPr>
              <a:t>5 / 5</a:t>
            </a:r>
          </a:p>
          <a:p>
            <a:pPr algn="ctr">
              <a:spcAft>
                <a:spcPts val="200"/>
              </a:spcAft>
            </a:pPr>
            <a:r>
              <a:rPr sz="850" b="0">
                <a:solidFill>
                  <a:srgbClr val="8A99AD"/>
                </a:solidFill>
                <a:latin typeface="Arial"/>
              </a:rPr>
              <a:t>agent tool routing</a:t>
            </a:r>
          </a:p>
        </p:txBody>
      </p:sp>
      <p:sp>
        <p:nvSpPr>
          <p:cNvPr id="86" name="Rounded Rectangle 85"/>
          <p:cNvSpPr/>
          <p:nvPr/>
        </p:nvSpPr>
        <p:spPr>
          <a:xfrm>
            <a:off x="470000" y="2440000"/>
            <a:ext cx="3982000" cy="1010065"/>
          </a:xfrm>
          <a:prstGeom prst="roundRect">
            <a:avLst>
              <a:gd name="adj" fmla="val 9000"/>
            </a:avLst>
          </a:prstGeom>
          <a:solidFill>
            <a:srgbClr val="F3F6FA"/>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t" wrap="square" lIns="130000" rIns="130000" tIns="90000" bIns="90000"/>
          <a:lstStyle/>
          <a:p>
            <a:pPr algn="l">
              <a:spcAft>
                <a:spcPts val="700"/>
              </a:spcAft>
            </a:pPr>
            <a:r>
              <a:rPr sz="950" b="1">
                <a:solidFill>
                  <a:srgbClr val="0C7FAA"/>
                </a:solidFill>
                <a:latin typeface="Arial"/>
              </a:rPr>
              <a:t>WHAT IT SAVES</a:t>
            </a:r>
          </a:p>
          <a:p>
            <a:pPr algn="l">
              <a:spcAft>
                <a:spcPts val="700"/>
              </a:spcAft>
            </a:pPr>
            <a:r>
              <a:rPr sz="1050" b="0">
                <a:solidFill>
                  <a:srgbClr val="465770"/>
                </a:solidFill>
                <a:latin typeface="Arial"/>
              </a:rPr>
              <a:t>The evidence pack is the artefact that takes an analyst two days by hand. PaperTrail emits it with the answer, and the figure re-derives from its own footnote in about 300 ms.</a:t>
            </a:r>
          </a:p>
        </p:txBody>
      </p:sp>
      <p:sp>
        <p:nvSpPr>
          <p:cNvPr id="87" name="Rounded Rectangle 86"/>
          <p:cNvSpPr/>
          <p:nvPr/>
        </p:nvSpPr>
        <p:spPr>
          <a:xfrm>
            <a:off x="4692000" y="2440000"/>
            <a:ext cx="3982000" cy="1010065"/>
          </a:xfrm>
          <a:prstGeom prst="roundRect">
            <a:avLst>
              <a:gd name="adj" fmla="val 9000"/>
            </a:avLst>
          </a:prstGeom>
          <a:solidFill>
            <a:srgbClr val="F3F6FA"/>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t" wrap="square" lIns="130000" rIns="130000" tIns="90000" bIns="90000"/>
          <a:lstStyle/>
          <a:p>
            <a:pPr algn="l">
              <a:spcAft>
                <a:spcPts val="700"/>
              </a:spcAft>
            </a:pPr>
            <a:r>
              <a:rPr sz="950" b="1">
                <a:solidFill>
                  <a:srgbClr val="0C7FAA"/>
                </a:solidFill>
                <a:latin typeface="Arial"/>
              </a:rPr>
              <a:t>WHY NOT 100%</a:t>
            </a:r>
          </a:p>
          <a:p>
            <a:pPr algn="l">
              <a:spcAft>
                <a:spcPts val="700"/>
              </a:spcAft>
            </a:pPr>
            <a:r>
              <a:rPr sz="1050" b="0">
                <a:solidFill>
                  <a:srgbClr val="465770"/>
                </a:solidFill>
                <a:latin typeface="Arial"/>
              </a:rPr>
              <a:t>Velocity spike detection is weak. Removing it would take precision and F1 to 1.000. We kept it because the regulation requires it. A perfect score on self-authored data would be evidence of tuning.</a:t>
            </a:r>
          </a:p>
        </p:txBody>
      </p:sp>
      <p:sp>
        <p:nvSpPr>
          <p:cNvPr id="88" name="Rounded Rectangle 87"/>
          <p:cNvSpPr/>
          <p:nvPr/>
        </p:nvSpPr>
        <p:spPr>
          <a:xfrm>
            <a:off x="470000" y="3700065"/>
            <a:ext cx="8204000" cy="760000"/>
          </a:xfrm>
          <a:prstGeom prst="roundRect">
            <a:avLst>
              <a:gd name="adj" fmla="val 9000"/>
            </a:avLst>
          </a:prstGeom>
          <a:solidFill>
            <a:srgbClr val="0E162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90000" bIns="90000"/>
          <a:lstStyle/>
          <a:p>
            <a:pPr algn="ctr">
              <a:spcAft>
                <a:spcPts val="400"/>
              </a:spcAft>
            </a:pPr>
            <a:r>
              <a:rPr sz="950" b="0">
                <a:solidFill>
                  <a:srgbClr val="8A99AD"/>
                </a:solidFill>
                <a:latin typeface="Arial"/>
              </a:rPr>
              <a:t>Live app    </a:t>
            </a:r>
            <a:r>
              <a:rPr sz="1250" b="1" u="none">
                <a:solidFill>
                  <a:srgbClr val="29B5E8"/>
                </a:solidFill>
                <a:latin typeface="Arial"/>
                <a:hlinkClick r:id="rId4"/>
              </a:rPr>
              <a:t>papertrail-provenance.vercel.app</a:t>
            </a:r>
            <a:r>
              <a:rPr sz="950" b="0">
                <a:solidFill>
                  <a:srgbClr val="8A99AD"/>
                </a:solidFill>
                <a:latin typeface="Arial"/>
              </a:rPr>
              <a:t>    opens for anyone, no login</a:t>
            </a:r>
          </a:p>
          <a:p>
            <a:pPr algn="ctr">
              <a:spcAft>
                <a:spcPts val="400"/>
              </a:spcAft>
            </a:pPr>
            <a:r>
              <a:rPr sz="950" b="0">
                <a:solidFill>
                  <a:srgbClr val="8A99AD"/>
                </a:solidFill>
                <a:latin typeface="Arial"/>
              </a:rPr>
              <a:t>Repository    </a:t>
            </a:r>
            <a:r>
              <a:rPr sz="1050" b="0" u="none">
                <a:solidFill>
                  <a:srgbClr val="FFFFFF"/>
                </a:solidFill>
                <a:latin typeface="Arial"/>
                <a:hlinkClick r:id="rId5"/>
              </a:rPr>
              <a:t>github.com/tjmanoj/papertrail</a:t>
            </a:r>
            <a:r>
              <a:rPr sz="950" b="0">
                <a:solidFill>
                  <a:srgbClr val="8A99AD"/>
                </a:solidFill>
                <a:latin typeface="Arial"/>
              </a:rPr>
              <a:t>        Also deployed natively as    </a:t>
            </a:r>
            <a:r>
              <a:rPr sz="1050" b="0">
                <a:solidFill>
                  <a:srgbClr val="FFFFFF"/>
                </a:solidFill>
                <a:latin typeface="Arial"/>
              </a:rPr>
              <a:t>Streamlit in Snowflake</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 name="Shape 84"/>
        <p:cNvGrpSpPr/>
        <p:nvPr/>
      </p:nvGrpSpPr>
      <p:grpSpPr>
        <a:xfrm>
          <a:off x="0" y="0"/>
          <a:ext cx="0" cy="0"/>
          <a:chOff x="0" y="0"/>
          <a:chExt cx="0" cy="0"/>
        </a:xfrm>
      </p:grpSpPr>
      <p:pic>
        <p:nvPicPr>
          <p:cNvPr id="85" name="Google Shape;85;p18" title="timer 1 min cowsswedededexeco cli.png"/>
          <p:cNvPicPr preferRelativeResize="0"/>
          <p:nvPr/>
        </p:nvPicPr>
        <p:blipFill rotWithShape="1">
          <a:blip r:embed="rId3">
            <a:alphaModFix/>
          </a:blip>
          <a:srcRect b="0" l="0" r="0" t="0"/>
          <a:stretch/>
        </p:blipFill>
        <p:spPr>
          <a:xfrm>
            <a:off x="0" y="0"/>
            <a:ext cx="9144018" cy="5143501"/>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